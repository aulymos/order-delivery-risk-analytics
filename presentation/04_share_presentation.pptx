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0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Late-delivery rate</c:v>
          </c:tx>
          <c:spPr>
            <a:solidFill>
              <a:srgbClr val="3D8DFF"/>
            </a:solidFill>
          </c:spPr>
          <c:invertIfNegative val="1"/>
          <c:dLbls>
            <c:spPr>
              <a:noFill/>
              <a:ln>
                <a:noFill/>
              </a:ln>
              <a:effectLst/>
            </c:spPr>
            <c:txPr>
              <a:bodyPr anchorCtr="1"/>
              <a:lstStyle/>
              <a:p>
                <a:pPr>
                  <a:defRPr sz="1275" b="1">
                    <a:solidFill>
                      <a:srgbClr val="111827"/>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First Class</c:v>
              </c:pt>
              <c:pt idx="1">
                <c:v>Second Class</c:v>
              </c:pt>
              <c:pt idx="2">
                <c:v>Same Day</c:v>
              </c:pt>
              <c:pt idx="3">
                <c:v>Standard Class</c:v>
              </c:pt>
            </c:strLit>
          </c:cat>
          <c:val>
            <c:numLit>
              <c:formatCode>0.00%</c:formatCode>
              <c:ptCount val="4"/>
              <c:pt idx="0">
                <c:v>1</c:v>
              </c:pt>
              <c:pt idx="1">
                <c:v>0.79985313319999995</c:v>
              </c:pt>
              <c:pt idx="2">
                <c:v>0.48371000879999998</c:v>
              </c:pt>
              <c:pt idx="3">
                <c:v>0.39846407309999998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0B6-4F18-8ADC-C9BE6C03C463}"/>
            </c:ext>
          </c:extLst>
        </c:ser>
        <c:dLbls>
          <c:dLblPos val="outEnd"/>
          <c:showLegendKey val="0"/>
          <c:showVal val="1"/>
          <c:showCatName val="0"/>
          <c:showSerName val="0"/>
          <c:showPercent val="0"/>
          <c:showBubbleSize val="0"/>
        </c:dLbls>
        <c:gapWidth val="72"/>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0D5DD"/>
            </a:solidFill>
            <a:prstDash val="solid"/>
          </a:ln>
        </c:spPr>
        <c:txPr>
          <a:bodyPr anchorCtr="1"/>
          <a:lstStyle/>
          <a:p>
            <a:pPr>
              <a:defRPr sz="1200">
                <a:solidFill>
                  <a:srgbClr val="111827"/>
                </a:solidFill>
              </a:defRPr>
            </a:pPr>
            <a:endParaRPr lang="zh-CN"/>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one"/>
        <c:spPr>
          <a:ln w="0">
            <a:noFill/>
            <a:prstDash val="solid"/>
          </a:ln>
        </c:spPr>
        <c:txPr>
          <a:bodyPr anchorCtr="1"/>
          <a:lstStyle/>
          <a:p>
            <a:pPr>
              <a:defRPr>
                <a:solidFill>
                  <a:srgbClr val="666666"/>
                </a:solidFill>
              </a:defRPr>
            </a:pPr>
            <a:endParaRPr lang="zh-CN"/>
          </a:p>
        </c:txPr>
        <c:crossAx val="48650112"/>
        <c:crosses val="autoZero"/>
        <c:crossBetween val="between"/>
      </c:valAx>
      <c:spPr>
        <a:noFill/>
        <a:ln w="25400">
          <a:noFill/>
        </a:ln>
      </c:spPr>
    </c:plotArea>
    <c:plotVisOnly val="1"/>
    <c:dispBlanksAs val="zero"/>
    <c:showDLblsOverMax val="1"/>
  </c:chart>
  <c:spPr>
    <a:solidFill>
      <a:srgbClr val="FFFFFF"/>
    </a:solidFill>
    <a:ln w="0">
      <a:solidFill>
        <a:srgbClr val="FFFFFF"/>
      </a:solidFill>
      <a:prstDash val="solid"/>
    </a:ln>
  </c:spPr>
  <c:userShapes r:id="rId1"/>
</c:chartSpace>
</file>

<file path=ppt/drawings/_rels/drawing1.xml.rels><?xml version="1.0" encoding="UTF-8" standalone="yes"?>
<Relationships xmlns="http://schemas.openxmlformats.org/package/2006/relationships"><Relationship Id="rId1" Type="http://schemas.openxmlformats.org/officeDocument/2006/relationships/image" Target="../media/image2.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952BA6EC-10E9-3EDF-7FE2-AB5D8722DE85}"/>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3257143" cy="7742857"/>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portfolio case study asks a practical decision question: when review capacity is limited, how can historical order data help focus attention on the orders most likely to be delivered late? I will first establish the historical scale of the problem, then identify the clearest operational association, test whether a simple model provides useful risk ranking, and finally translate that ranking into a manageable review queue. The objective is decision support, not automated decision-making or a claim that individual delivery outcomes can be predicted with certainty.</a:t>
            </a:r>
          </a:p>
          <a:p>
            <a:endParaRPr/>
          </a:p>
          <a:p>
            <a:r>
              <a:t>[Sources]</a:t>
            </a:r>
          </a:p>
          <a:p>
            <a:r>
              <a:t>- upload/03_analyze_delivery_risk_and_workload(7).ipynb</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operational problem is not simply that late delivery occurs. The decision is how to use a limited review team effectively when it cannot inspect every eligible order. I organised the analysis around four connected questions. AQ1 establishes the historical scale and trend. AQ2 compares operational attributes to identify useful associations. AQ3 tests whether a time-aware logistic-regression model ranks late orders better than a no-skill baseline. AQ4 converts that ranking into review scenarios at 5%, 10%, and 20% capacity. Together, the questions move from understanding the problem to recommending a practical pilot queue.</a:t>
            </a:r>
          </a:p>
          <a:p>
            <a:endParaRPr/>
          </a:p>
          <a:p>
            <a:r>
              <a:t>[Sources]</a:t>
            </a:r>
          </a:p>
          <a:p>
            <a:r>
              <a:t>- upload/03_analyze_delivery_risk_and_workload(7).ipynb</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validated order-level dataset contains 62,897 eligible orders from January 2015 to January 2018. Descriptive analysis uses this full historical period. For risk ranking, I retained only information treated as available when an order is created. The 160 complete weeks were then split chronologically: the earliest 128 weeks formed the training period and the latest 32 weeks formed the held-out test period. This produced 13,525 test orders. The final capacity simulation reuses the frozen test-period risk scores; it does not retrain or tune another model. This separation reduces leakage and keeps the final decision test closer to a future-use scenario.</a:t>
            </a:r>
          </a:p>
          <a:p>
            <a:endParaRPr/>
          </a:p>
          <a:p>
            <a:r>
              <a:t>[Sources]</a:t>
            </a:r>
          </a:p>
          <a:p>
            <a:r>
              <a:t>- upload/03_analyze_delivery_risk_and_workload(7).ipynb</a:t>
            </a:r>
          </a:p>
          <a:p>
            <a:r>
              <a:t>- analyze/tables/aq1_overall_delivery_kpis.csv</a:t>
            </a:r>
          </a:p>
          <a:p>
            <a:r>
              <a:t>- analyze/tables/aq4_capacity_comparison.csv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AQ1 begins with three simple business measures. Eligible order count is the number of orders included in the validated population. Late order count is the number of those orders whose delivery outcome was late. Late-delivery rate divides late orders by eligible orders, providing a consistent basis for comparison across time periods. Across the full historical dataset, 36,048 of 62,897 eligible orders were late, producing an overall rate of 57.31%. Establishing these definitions first ensures that the next visual is interpreted as a business-performance measure rather than as a standalone collection of data points.</a:t>
            </a:r>
          </a:p>
          <a:p>
            <a:endParaRPr/>
          </a:p>
          <a:p>
            <a:r>
              <a:t>[Sources]</a:t>
            </a:r>
          </a:p>
          <a:p>
            <a:r>
              <a:t>- analyze/tables/aq1_overall_delivery_kpis.csv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shows monthly eligible-order volume together with the monthly late-delivery rate. The dashed reference line is the overall historical rate of 57.31%. Monthly rates remained within a relatively narrow range, from 55.04% to 59.86%, and there was no sustained upward or downward movement. The important insight is therefore not a single peak month. Late delivery remained common throughout the period. From a decision perspective, that pattern supports an ongoing prioritisation process rather than a one-off response to a temporary spike.</a:t>
            </a:r>
          </a:p>
          <a:p>
            <a:endParaRPr/>
          </a:p>
          <a:p>
            <a:r>
              <a:t>[Sources]</a:t>
            </a:r>
          </a:p>
          <a:p>
            <a:r>
              <a:t>- analyze/figures/aq1_monthly_delivery_trend.png</a:t>
            </a:r>
          </a:p>
          <a:p>
            <a:r>
              <a:t>- analyze/tables/aq1_monthly_delivery_trend.csv</a:t>
            </a:r>
          </a:p>
          <a:p>
            <a:r>
              <a:t>- analyze/tables/aq1_overall_delivery_kpis.csv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AQ2 uses the same late-delivery rate, but compares it across operational groups. The rate shows the share of late orders within each category, while eligible-order count provides exposure context so that a percentage is not interpreted without knowing the group size. I also compared the mean and median item count, order quantity, and order value between late and on-time orders. These comparisons are descriptive. They can identify attributes that deserve investigation or may help risk ranking, but they do not prove that an attribute caused a delivery to be late.</a:t>
            </a:r>
          </a:p>
          <a:p>
            <a:endParaRPr/>
          </a:p>
          <a:p>
            <a:r>
              <a:t>[Sources]</a:t>
            </a:r>
          </a:p>
          <a:p>
            <a:r>
              <a:t>- analyze/tables/aq1_aq2_segment_delivery_summary.csv</a:t>
            </a:r>
          </a:p>
          <a:p>
            <a:r>
              <a:t>- analyze/tables/aq2_order_profile_summary.csv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focused comparison shows that Shipping Mode has a much larger spread than the other attributes reviewed. First Class recorded a 100.00% historical late-delivery rate and Second Class 79.99%, compared with 48.37% for Same Day and 39.85% for Standard Class. By contrast, Customer Segment and Market rates were tightly grouped, and the selected order-size measures were nearly identical between late and on-time orders. The conclusion is that Shipping Mode provides the clearest operational association and the strongest investigation signal. It remains an association, however, and should not be presented as a confirmed root cause.</a:t>
            </a:r>
          </a:p>
          <a:p>
            <a:endParaRPr/>
          </a:p>
          <a:p>
            <a:r>
              <a:t>[Sources]</a:t>
            </a:r>
          </a:p>
          <a:p>
            <a:r>
              <a:t>- analyze/tables/aq1_aq2_segment_delivery_summary.csv</a:t>
            </a:r>
          </a:p>
          <a:p>
            <a:r>
              <a:t>- analyze/tables/aq2_order_profile_summary.csv</a:t>
            </a:r>
          </a:p>
          <a:p>
            <a:r>
              <a:t>- analyze/figures/aq1_aq2_segment_delivery_rates.png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AQ3 asks whether the model provides useful relative ranking on later orders. Average Precision summarises how well the ranking maintains precision while capturing more actual late orders. ROC-AUC measures the model's overall ability to place a late order above an on-time order. Both are compared with a no-skill baseline: a ranking that contains no useful order-level risk information. For that baseline, Average Precision equals the late-order prevalence in the test period and ROC-AUC equals 0.50. These are ranking measures. They support prioritisation, but they do not mean that the model can guarantee the outcome of an individual order.</a:t>
            </a:r>
          </a:p>
          <a:p>
            <a:endParaRPr/>
          </a:p>
          <a:p>
            <a:r>
              <a:t>[Sources]</a:t>
            </a:r>
          </a:p>
          <a:p>
            <a:r>
              <a:t>- analyze/tables/aq3_model_evaluation.csv</a:t>
            </a:r>
          </a:p>
          <a:p>
            <a:r>
              <a:t>- upload/03_analyze_delivery_risk_and_workload(7).ipynb</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13,525 held-out test orders, logistic regression achieved an Average Precision of 0.8382, compared with 0.5759 for the no-skill baseline. Its ROC-AUC was 0.7473, compared with 0.5000 for the baseline. The precision-recall curve also remains above the prevalence reference for almost the entire recall range. Together, these results show that the model placed late orders nearer the top of the ranking more effectively than the baseline. This supports using the scores for relative prioritisation; it does not establish that logistic regression is the best possible model or that every high-ranked order will be late.</a:t>
            </a:r>
          </a:p>
          <a:p>
            <a:endParaRPr/>
          </a:p>
          <a:p>
            <a:r>
              <a:t>[Sources]</a:t>
            </a:r>
          </a:p>
          <a:p>
            <a:r>
              <a:t>- analyze/figures/aq3_precision_recall_curve.png</a:t>
            </a:r>
          </a:p>
          <a:p>
            <a:r>
              <a:t>- analyze/tables/aq3_model_evaluation.csv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AQ4 converts the fixed risk ranking into an operational capacity decision. Capacity is the maximum share of eligible orders that can be reviewed. Late-order recall asks how many of all actual late orders are captured by the selected queue. Review precision asks how many selected orders were actually late. Lift compares that precision with the overall late-order rate, showing how much more concentrated the queue is than review without informative ranking. The decision rule is simple: rank eligible orders by risk and review the highest-ranked orders until the selected capacity limit is reached.</a:t>
            </a:r>
          </a:p>
          <a:p>
            <a:endParaRPr/>
          </a:p>
          <a:p>
            <a:r>
              <a:t>[Sources]</a:t>
            </a:r>
          </a:p>
          <a:p>
            <a:r>
              <a:t>- analyze/tables/aq4_capacity_comparison.csv</a:t>
            </a:r>
          </a:p>
          <a:p>
            <a:r>
              <a:t>- upload/03_analyze_delivery_risk_and_workload(7).ipynb</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capacity comparison shows the central trade-off. At 5% capacity, 677 orders are reviewed and 8.69% of all late orders are captured. At 10%, the queue grows to 1,353 orders and recall rises to 17.37%. At 20%, 2,705 orders are reviewed and recall reaches 33.02%. Precision remains 100.00% at 5% and 10%, then decreases to 95.08% at 20%; lift similarly declines from 1.74 to 1.65. Increasing capacity therefore improves coverage, but it also increases workload and begins to reduce how concentrated the queue is.</a:t>
            </a:r>
          </a:p>
          <a:p>
            <a:endParaRPr/>
          </a:p>
          <a:p>
            <a:r>
              <a:t>[Sources]</a:t>
            </a:r>
          </a:p>
          <a:p>
            <a:r>
              <a:t>- analyze/tables/aq4_capacity_comparison.csv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recommend the top-10% queue as a practical pilot starting point. It reviews 1,353 orders, captures 17.37% of the actual late orders in the held-out period, and produced 100.00% retrospective precision with 1.74 times lift. It captures more late orders than the 5% option without expanding into the lower-precision region observed at 20%. The operational output is a ranked order list using Order Id for traceability and deterministic tie-breaking. The 100% figure is a historical test-period result, not a promise of future performance, so the queue must be validated prospectively before routine adoption.</a:t>
            </a:r>
          </a:p>
          <a:p>
            <a:endParaRPr/>
          </a:p>
          <a:p>
            <a:r>
              <a:t>[Sources]</a:t>
            </a:r>
          </a:p>
          <a:p>
            <a:r>
              <a:t>- analyze/tables/aq4_capacity_comparison.csv</a:t>
            </a:r>
          </a:p>
          <a:p>
            <a:r>
              <a:t>- analyze/tables/aq4_preferred_10pct_review_queue.csv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step is a controlled pilot rather than immediate full adoption. First, generate a weekly top-10% queue from information available at order creation. Second, record workload, actual outcomes, precision, recall, and any actions taken by reviewers. Third, compare live performance with the held-out results and refine the process only if the evidence supports it. In parallel, Shipping Mode should be investigated as an operational signal, without assuming causation. The main limitations are that this is historical proxy data, evaluation uses one held-out period, and the simulation does not show that reviewing an order prevents a late delivery. The model should focus human attention, not replace judgment.</a:t>
            </a:r>
          </a:p>
          <a:p>
            <a:endParaRPr/>
          </a:p>
          <a:p>
            <a:r>
              <a:t>[Sources]</a:t>
            </a:r>
          </a:p>
          <a:p>
            <a:r>
              <a:t>- upload/03_analyze_delivery_risk_and_workload(7).ipynb</a:t>
            </a:r>
          </a:p>
          <a:p>
            <a:r>
              <a:t>- analyze/tables/aq4_capacity_comparison.csv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24E1B4C-0C47-4CB1-A167-49CA68988FA9}"/>
              </a:ext>
            </a:extLst>
          </p:cNvPr>
          <p:cNvSpPr>
            <a:spLocks noGrp="1"/>
          </p:cNvSpPr>
          <p:nvPr/>
        </p:nvSpPr>
        <p:spPr>
          <a:xfrm>
            <a:off x="400050" y="400050"/>
            <a:ext cx="3238500" cy="285750"/>
          </a:xfrm>
          <a:prstGeom prst="rect">
            <a:avLst/>
          </a:prstGeom>
          <a:noFill/>
          <a:ln w="0">
            <a:noFill/>
            <a:prstDash val="solid"/>
          </a:ln>
        </p:spPr>
        <p:txBody>
          <a:bodyPr wrap="square" lIns="0" tIns="0" rIns="0" bIns="0" anchor="t">
            <a:no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PORTFOLIO CASE STUDY</a:t>
            </a:r>
          </a:p>
        </p:txBody>
      </p:sp>
      <p:sp>
        <p:nvSpPr>
          <p:cNvPr id="2" name="矩形 1">
            <a:extLst>
              <a:ext uri="{FF2B5EF4-FFF2-40B4-BE49-F238E27FC236}">
                <a16:creationId xmlns:a16="http://schemas.microsoft.com/office/drawing/2014/main" id="{0A0FDFC2-4BCB-4ADF-8339-7994A6435249}"/>
              </a:ext>
            </a:extLst>
          </p:cNvPr>
          <p:cNvSpPr>
            <a:spLocks noGrp="1"/>
          </p:cNvSpPr>
          <p:nvPr/>
        </p:nvSpPr>
        <p:spPr>
          <a:xfrm>
            <a:off x="8572500" y="400050"/>
            <a:ext cx="3219450" cy="285750"/>
          </a:xfrm>
          <a:prstGeom prst="rect">
            <a:avLst/>
          </a:prstGeom>
          <a:noFill/>
          <a:ln w="0">
            <a:noFill/>
            <a:prstDash val="solid"/>
          </a:ln>
        </p:spPr>
        <p:txBody>
          <a:bodyPr wrap="square" lIns="0" tIns="0" rIns="0" bIns="0" anchor="t">
            <a:noAutofit/>
          </a:bodyPr>
          <a:lstStyle/>
          <a:p>
            <a:pPr algn="r">
              <a:lnSpc>
                <a:spcPct val="105000"/>
              </a:lnSpc>
              <a:buNone/>
              <a:defRPr sz="1200" b="0" i="0">
                <a:solidFill>
                  <a:srgbClr val="667085"/>
                </a:solidFill>
                <a:latin typeface="Arial"/>
                <a:ea typeface="Arial"/>
                <a:cs typeface="Arial"/>
              </a:defRPr>
            </a:pPr>
            <a:r>
              <a:rPr sz="1200" b="0" i="0">
                <a:solidFill>
                  <a:srgbClr val="667085"/>
                </a:solidFill>
                <a:latin typeface="Arial"/>
                <a:ea typeface="Arial"/>
                <a:cs typeface="Arial"/>
              </a:rPr>
              <a:t>AUGUST 2026</a:t>
            </a:r>
          </a:p>
        </p:txBody>
      </p:sp>
      <p:sp>
        <p:nvSpPr>
          <p:cNvPr id="3" name="矩形 2">
            <a:extLst>
              <a:ext uri="{FF2B5EF4-FFF2-40B4-BE49-F238E27FC236}">
                <a16:creationId xmlns:a16="http://schemas.microsoft.com/office/drawing/2014/main" id="{D9E40F6E-5CE7-4884-8FAD-95C9F6C082EB}"/>
              </a:ext>
            </a:extLst>
          </p:cNvPr>
          <p:cNvSpPr>
            <a:spLocks noGrp="1"/>
          </p:cNvSpPr>
          <p:nvPr/>
        </p:nvSpPr>
        <p:spPr>
          <a:xfrm>
            <a:off x="400050" y="2133600"/>
            <a:ext cx="10287000" cy="2286000"/>
          </a:xfrm>
          <a:prstGeom prst="rect">
            <a:avLst/>
          </a:prstGeom>
          <a:noFill/>
          <a:ln w="0">
            <a:noFill/>
            <a:prstDash val="solid"/>
          </a:ln>
        </p:spPr>
        <p:txBody>
          <a:bodyPr wrap="square" lIns="0" tIns="0" rIns="0" bIns="0" anchor="ctr">
            <a:normAutofit fontScale="97466" lnSpcReduction="10000"/>
          </a:bodyPr>
          <a:lstStyle/>
          <a:p>
            <a:pPr algn="l">
              <a:lnSpc>
                <a:spcPct val="95000"/>
              </a:lnSpc>
              <a:buNone/>
              <a:defRPr sz="5400" b="1" i="0">
                <a:solidFill>
                  <a:srgbClr val="111827"/>
                </a:solidFill>
                <a:latin typeface="Arial"/>
                <a:ea typeface="Arial"/>
                <a:cs typeface="Arial"/>
              </a:defRPr>
            </a:pPr>
            <a:r>
              <a:rPr sz="5400" b="1" i="0">
                <a:solidFill>
                  <a:srgbClr val="111827"/>
                </a:solidFill>
                <a:latin typeface="Arial"/>
                <a:ea typeface="Arial"/>
                <a:cs typeface="Arial"/>
              </a:rPr>
              <a:t>Prioritising Late-Delivery</a:t>
            </a:r>
          </a:p>
          <a:p>
            <a:pPr algn="l">
              <a:lnSpc>
                <a:spcPct val="95000"/>
              </a:lnSpc>
              <a:buNone/>
              <a:defRPr sz="5400" b="1" i="0">
                <a:solidFill>
                  <a:srgbClr val="111827"/>
                </a:solidFill>
                <a:latin typeface="Arial"/>
                <a:ea typeface="Arial"/>
                <a:cs typeface="Arial"/>
              </a:defRPr>
            </a:pPr>
            <a:r>
              <a:rPr sz="5400" b="1" i="0">
                <a:solidFill>
                  <a:srgbClr val="111827"/>
                </a:solidFill>
                <a:latin typeface="Arial"/>
                <a:ea typeface="Arial"/>
                <a:cs typeface="Arial"/>
              </a:rPr>
              <a:t>Reviews Under Limited Capacity</a:t>
            </a:r>
          </a:p>
        </p:txBody>
      </p:sp>
      <p:sp>
        <p:nvSpPr>
          <p:cNvPr id="4" name="矩形 3">
            <a:extLst>
              <a:ext uri="{FF2B5EF4-FFF2-40B4-BE49-F238E27FC236}">
                <a16:creationId xmlns:a16="http://schemas.microsoft.com/office/drawing/2014/main" id="{43DAB88A-606A-4F8C-AAE2-29441DC43DEE}"/>
              </a:ext>
            </a:extLst>
          </p:cNvPr>
          <p:cNvSpPr>
            <a:spLocks noGrp="1"/>
          </p:cNvSpPr>
          <p:nvPr/>
        </p:nvSpPr>
        <p:spPr>
          <a:xfrm>
            <a:off x="400050" y="4953000"/>
            <a:ext cx="8763000" cy="685800"/>
          </a:xfrm>
          <a:prstGeom prst="rect">
            <a:avLst/>
          </a:prstGeom>
          <a:noFill/>
          <a:ln w="0">
            <a:noFill/>
            <a:prstDash val="solid"/>
          </a:ln>
        </p:spPr>
        <p:txBody>
          <a:bodyPr wrap="square" lIns="0" tIns="0" rIns="0" bIns="0" anchor="t">
            <a:normAutofit/>
          </a:bodyPr>
          <a:lstStyle/>
          <a:p>
            <a:pPr algn="l">
              <a:lnSpc>
                <a:spcPct val="110000"/>
              </a:lnSpc>
              <a:buNone/>
              <a:defRPr sz="1950" b="0" i="0">
                <a:solidFill>
                  <a:srgbClr val="667085"/>
                </a:solidFill>
                <a:latin typeface="Arial"/>
                <a:ea typeface="Arial"/>
                <a:cs typeface="Arial"/>
              </a:defRPr>
            </a:pPr>
            <a:r>
              <a:rPr sz="1950" b="0" i="0">
                <a:solidFill>
                  <a:srgbClr val="667085"/>
                </a:solidFill>
                <a:latin typeface="Arial"/>
                <a:ea typeface="Arial"/>
                <a:cs typeface="Arial"/>
              </a:rPr>
              <a:t>Historical order evidence, risk ranking, and a capacity-based review queue</a:t>
            </a:r>
          </a:p>
        </p:txBody>
      </p:sp>
      <p:sp>
        <p:nvSpPr>
          <p:cNvPr id="5" name="直接连接符 4">
            <a:extLst>
              <a:ext uri="{FF2B5EF4-FFF2-40B4-BE49-F238E27FC236}">
                <a16:creationId xmlns:a16="http://schemas.microsoft.com/office/drawing/2014/main" id="{1C880911-795E-430C-B514-93B4EAF25D0B}"/>
              </a:ext>
            </a:extLst>
          </p:cNvPr>
          <p:cNvSpPr>
            <a:spLocks noGrp="1"/>
          </p:cNvSpPr>
          <p:nvPr/>
        </p:nvSpPr>
        <p:spPr>
          <a:xfrm>
            <a:off x="400050" y="6096000"/>
            <a:ext cx="2476500" cy="0"/>
          </a:xfrm>
          <a:prstGeom prst="line">
            <a:avLst/>
          </a:prstGeom>
          <a:noFill/>
          <a:ln w="47625">
            <a:solidFill>
              <a:srgbClr val="3D8DFF"/>
            </a:solidFill>
            <a:prstDash val="solid"/>
          </a:ln>
        </p:spPr>
        <p:txBody>
          <a:bodyPr/>
          <a:lstStyle/>
          <a:p>
            <a:endParaRPr lang="zh-CN" altLang="en-US"/>
          </a:p>
        </p:txBody>
      </p:sp>
    </p:spTree>
    <p:extLst>
      <p:ext uri="{BB962C8B-B14F-4D97-AF65-F5344CB8AC3E}">
        <p14:creationId xmlns:p14="http://schemas.microsoft.com/office/powerpoint/2010/main" val="1473368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A0D823C2-052B-4227-9331-335CF64EFD90}"/>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DECISION CONTEXT</a:t>
            </a:r>
          </a:p>
        </p:txBody>
      </p:sp>
      <p:sp>
        <p:nvSpPr>
          <p:cNvPr id="2" name="矩形 1">
            <a:extLst>
              <a:ext uri="{FF2B5EF4-FFF2-40B4-BE49-F238E27FC236}">
                <a16:creationId xmlns:a16="http://schemas.microsoft.com/office/drawing/2014/main" id="{C626F827-D914-4437-9B98-DF5D0706FDE9}"/>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The decision is how to use limited review capacity</a:t>
            </a:r>
          </a:p>
        </p:txBody>
      </p:sp>
      <p:sp>
        <p:nvSpPr>
          <p:cNvPr id="3" name="直接连接符 2">
            <a:extLst>
              <a:ext uri="{FF2B5EF4-FFF2-40B4-BE49-F238E27FC236}">
                <a16:creationId xmlns:a16="http://schemas.microsoft.com/office/drawing/2014/main" id="{58FDAED7-4E0F-4DDB-B30F-8BACACFFBB72}"/>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C52C58E1-D390-4C34-ACF7-E0A5441B125F}"/>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6C3E1486-85D1-443B-A6BE-FC8BA653B102}"/>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2</a:t>
            </a:r>
          </a:p>
        </p:txBody>
      </p:sp>
      <p:sp>
        <p:nvSpPr>
          <p:cNvPr id="6" name="矩形 5">
            <a:extLst>
              <a:ext uri="{FF2B5EF4-FFF2-40B4-BE49-F238E27FC236}">
                <a16:creationId xmlns:a16="http://schemas.microsoft.com/office/drawing/2014/main" id="{DA28ED13-E4AF-474B-BF91-41F5AF32E684}"/>
              </a:ext>
            </a:extLst>
          </p:cNvPr>
          <p:cNvSpPr>
            <a:spLocks noGrp="1"/>
          </p:cNvSpPr>
          <p:nvPr/>
        </p:nvSpPr>
        <p:spPr>
          <a:xfrm>
            <a:off x="400050" y="1600200"/>
            <a:ext cx="4762500" cy="1066800"/>
          </a:xfrm>
          <a:prstGeom prst="rect">
            <a:avLst/>
          </a:prstGeom>
          <a:noFill/>
          <a:ln w="0">
            <a:noFill/>
            <a:prstDash val="solid"/>
          </a:ln>
        </p:spPr>
        <p:txBody>
          <a:bodyPr wrap="square" lIns="0" tIns="0" rIns="0" bIns="0" anchor="t">
            <a:normAutofit/>
          </a:bodyPr>
          <a:lstStyle/>
          <a:p>
            <a:pPr algn="l">
              <a:lnSpc>
                <a:spcPct val="102000"/>
              </a:lnSpc>
              <a:buNone/>
              <a:defRPr sz="2700" b="1" i="0">
                <a:solidFill>
                  <a:srgbClr val="111827"/>
                </a:solidFill>
                <a:latin typeface="Arial"/>
                <a:ea typeface="Arial"/>
                <a:cs typeface="Arial"/>
              </a:defRPr>
            </a:pPr>
            <a:r>
              <a:rPr sz="2700" b="1" i="0">
                <a:solidFill>
                  <a:srgbClr val="111827"/>
                </a:solidFill>
                <a:latin typeface="Arial"/>
                <a:ea typeface="Arial"/>
                <a:cs typeface="Arial"/>
              </a:rPr>
              <a:t>Review teams cannot inspect every eligible order.</a:t>
            </a:r>
          </a:p>
        </p:txBody>
      </p:sp>
      <p:sp>
        <p:nvSpPr>
          <p:cNvPr id="7" name="矩形 6">
            <a:extLst>
              <a:ext uri="{FF2B5EF4-FFF2-40B4-BE49-F238E27FC236}">
                <a16:creationId xmlns:a16="http://schemas.microsoft.com/office/drawing/2014/main" id="{19856A33-D87E-45B1-93B8-8B2F36D982BF}"/>
              </a:ext>
            </a:extLst>
          </p:cNvPr>
          <p:cNvSpPr>
            <a:spLocks noGrp="1"/>
          </p:cNvSpPr>
          <p:nvPr/>
        </p:nvSpPr>
        <p:spPr>
          <a:xfrm>
            <a:off x="400050" y="2952750"/>
            <a:ext cx="4953000" cy="1200150"/>
          </a:xfrm>
          <a:prstGeom prst="rect">
            <a:avLst/>
          </a:prstGeom>
          <a:noFill/>
          <a:ln w="0">
            <a:noFill/>
            <a:prstDash val="solid"/>
          </a:ln>
        </p:spPr>
        <p:txBody>
          <a:bodyPr wrap="square" lIns="0" tIns="0" rIns="0" bIns="0" anchor="t">
            <a:normAutofit/>
          </a:bodyPr>
          <a:lstStyle/>
          <a:p>
            <a:pPr algn="l">
              <a:lnSpc>
                <a:spcPct val="116000"/>
              </a:lnSpc>
              <a:buNone/>
              <a:defRPr sz="1800" b="0" i="0">
                <a:solidFill>
                  <a:srgbClr val="667085"/>
                </a:solidFill>
                <a:latin typeface="Arial"/>
                <a:ea typeface="Arial"/>
                <a:cs typeface="Arial"/>
              </a:defRPr>
            </a:pPr>
            <a:r>
              <a:rPr sz="1800" b="0" i="0">
                <a:solidFill>
                  <a:srgbClr val="667085"/>
                </a:solidFill>
                <a:latin typeface="Arial"/>
                <a:ea typeface="Arial"/>
                <a:cs typeface="Arial"/>
              </a:rPr>
              <a:t>The business task is to focus limited attention on orders with the highest relative late-delivery risk.</a:t>
            </a:r>
          </a:p>
        </p:txBody>
      </p:sp>
      <p:sp>
        <p:nvSpPr>
          <p:cNvPr id="8" name="矩形 7">
            <a:extLst>
              <a:ext uri="{FF2B5EF4-FFF2-40B4-BE49-F238E27FC236}">
                <a16:creationId xmlns:a16="http://schemas.microsoft.com/office/drawing/2014/main" id="{AE8B9449-129C-4927-A91B-DB9BF6455B97}"/>
              </a:ext>
            </a:extLst>
          </p:cNvPr>
          <p:cNvSpPr>
            <a:spLocks noGrp="1"/>
          </p:cNvSpPr>
          <p:nvPr/>
        </p:nvSpPr>
        <p:spPr>
          <a:xfrm>
            <a:off x="400050" y="4552950"/>
            <a:ext cx="2095500" cy="28575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3D8DFF"/>
                </a:solidFill>
                <a:latin typeface="Arial"/>
                <a:ea typeface="Arial"/>
                <a:cs typeface="Arial"/>
              </a:defRPr>
            </a:pPr>
            <a:r>
              <a:rPr sz="1350" b="1" i="0">
                <a:solidFill>
                  <a:srgbClr val="3D8DFF"/>
                </a:solidFill>
                <a:latin typeface="Arial"/>
                <a:ea typeface="Arial"/>
                <a:cs typeface="Arial"/>
              </a:rPr>
              <a:t>Decision boundary</a:t>
            </a:r>
          </a:p>
        </p:txBody>
      </p:sp>
      <p:sp>
        <p:nvSpPr>
          <p:cNvPr id="9" name="矩形 8">
            <a:extLst>
              <a:ext uri="{FF2B5EF4-FFF2-40B4-BE49-F238E27FC236}">
                <a16:creationId xmlns:a16="http://schemas.microsoft.com/office/drawing/2014/main" id="{ABA82E90-69FB-4C51-A8F7-660044BE435B}"/>
              </a:ext>
            </a:extLst>
          </p:cNvPr>
          <p:cNvSpPr>
            <a:spLocks noGrp="1"/>
          </p:cNvSpPr>
          <p:nvPr/>
        </p:nvSpPr>
        <p:spPr>
          <a:xfrm>
            <a:off x="400050" y="4953000"/>
            <a:ext cx="4905375" cy="666750"/>
          </a:xfrm>
          <a:prstGeom prst="rect">
            <a:avLst/>
          </a:prstGeom>
          <a:noFill/>
          <a:ln w="0">
            <a:noFill/>
            <a:prstDash val="solid"/>
          </a:ln>
        </p:spPr>
        <p:txBody>
          <a:bodyPr wrap="square" lIns="0" tIns="0" rIns="0" bIns="0" anchor="t">
            <a:normAutofit/>
          </a:bodyPr>
          <a:lstStyle/>
          <a:p>
            <a:pPr algn="l">
              <a:lnSpc>
                <a:spcPct val="112000"/>
              </a:lnSpc>
              <a:buNone/>
              <a:defRPr sz="1650" b="0" i="0">
                <a:solidFill>
                  <a:srgbClr val="111827"/>
                </a:solidFill>
                <a:latin typeface="Arial"/>
                <a:ea typeface="Arial"/>
                <a:cs typeface="Arial"/>
              </a:defRPr>
            </a:pPr>
            <a:r>
              <a:rPr sz="1650" b="0" i="0">
                <a:solidFill>
                  <a:srgbClr val="111827"/>
                </a:solidFill>
                <a:latin typeface="Arial"/>
                <a:ea typeface="Arial"/>
                <a:cs typeface="Arial"/>
              </a:rPr>
              <a:t>Prioritise review; do not automate outcomes or claim prevention.</a:t>
            </a:r>
          </a:p>
        </p:txBody>
      </p:sp>
      <p:sp>
        <p:nvSpPr>
          <p:cNvPr id="10" name="矩形: 圆角 9">
            <a:extLst>
              <a:ext uri="{FF2B5EF4-FFF2-40B4-BE49-F238E27FC236}">
                <a16:creationId xmlns:a16="http://schemas.microsoft.com/office/drawing/2014/main" id="{985D8252-F879-4F87-9190-844479FE93A0}"/>
              </a:ext>
            </a:extLst>
          </p:cNvPr>
          <p:cNvSpPr>
            <a:spLocks noGrp="1"/>
          </p:cNvSpPr>
          <p:nvPr/>
        </p:nvSpPr>
        <p:spPr>
          <a:xfrm>
            <a:off x="5981700" y="1581150"/>
            <a:ext cx="5810250" cy="4343400"/>
          </a:xfrm>
          <a:prstGeom prst="roundRect">
            <a:avLst>
              <a:gd name="adj" fmla="val 2632"/>
            </a:avLst>
          </a:prstGeom>
          <a:solidFill>
            <a:srgbClr val="F2F4F7"/>
          </a:solidFill>
          <a:ln w="0">
            <a:solidFill>
              <a:srgbClr val="F2F4F7"/>
            </a:solidFill>
            <a:prstDash val="solid"/>
          </a:ln>
        </p:spPr>
        <p:txBody>
          <a:bodyPr/>
          <a:lstStyle/>
          <a:p>
            <a:endParaRPr lang="zh-CN" altLang="en-US"/>
          </a:p>
        </p:txBody>
      </p:sp>
      <p:sp>
        <p:nvSpPr>
          <p:cNvPr id="11" name="矩形 10">
            <a:extLst>
              <a:ext uri="{FF2B5EF4-FFF2-40B4-BE49-F238E27FC236}">
                <a16:creationId xmlns:a16="http://schemas.microsoft.com/office/drawing/2014/main" id="{06FE23B3-BE4E-4841-83BC-6AAD44DE3942}"/>
              </a:ext>
            </a:extLst>
          </p:cNvPr>
          <p:cNvSpPr>
            <a:spLocks noGrp="1"/>
          </p:cNvSpPr>
          <p:nvPr/>
        </p:nvSpPr>
        <p:spPr>
          <a:xfrm>
            <a:off x="6305550" y="1866900"/>
            <a:ext cx="5143500" cy="40005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111827"/>
                </a:solidFill>
                <a:latin typeface="Arial"/>
                <a:ea typeface="Arial"/>
                <a:cs typeface="Arial"/>
              </a:defRPr>
            </a:pPr>
            <a:r>
              <a:rPr sz="1875" b="1" i="0">
                <a:solidFill>
                  <a:srgbClr val="111827"/>
                </a:solidFill>
                <a:latin typeface="Arial"/>
                <a:ea typeface="Arial"/>
                <a:cs typeface="Arial"/>
              </a:rPr>
              <a:t>Four questions connect evidence to action</a:t>
            </a:r>
          </a:p>
        </p:txBody>
      </p:sp>
      <p:sp>
        <p:nvSpPr>
          <p:cNvPr id="12" name="矩形 11">
            <a:extLst>
              <a:ext uri="{FF2B5EF4-FFF2-40B4-BE49-F238E27FC236}">
                <a16:creationId xmlns:a16="http://schemas.microsoft.com/office/drawing/2014/main" id="{E57443C9-CFC1-43B8-BA0E-49C559C76855}"/>
              </a:ext>
            </a:extLst>
          </p:cNvPr>
          <p:cNvSpPr>
            <a:spLocks noGrp="1"/>
          </p:cNvSpPr>
          <p:nvPr/>
        </p:nvSpPr>
        <p:spPr>
          <a:xfrm>
            <a:off x="6305550" y="2476500"/>
            <a:ext cx="685800" cy="323850"/>
          </a:xfrm>
          <a:prstGeom prst="rect">
            <a:avLst/>
          </a:prstGeom>
          <a:noFill/>
          <a:ln w="0">
            <a:noFill/>
            <a:prstDash val="solid"/>
          </a:ln>
        </p:spPr>
        <p:txBody>
          <a:bodyPr wrap="square" lIns="0" tIns="0" rIns="0" bIns="0" anchor="ctr">
            <a:normAutofit/>
          </a:bodyPr>
          <a:lstStyle/>
          <a:p>
            <a:pPr algn="l">
              <a:lnSpc>
                <a:spcPct val="105000"/>
              </a:lnSpc>
              <a:buNone/>
              <a:defRPr sz="1575" b="1" i="0">
                <a:solidFill>
                  <a:srgbClr val="3D8DFF"/>
                </a:solidFill>
                <a:latin typeface="Arial"/>
                <a:ea typeface="Arial"/>
                <a:cs typeface="Arial"/>
              </a:defRPr>
            </a:pPr>
            <a:r>
              <a:rPr sz="1575" b="1" i="0">
                <a:solidFill>
                  <a:srgbClr val="3D8DFF"/>
                </a:solidFill>
                <a:latin typeface="Arial"/>
                <a:ea typeface="Arial"/>
                <a:cs typeface="Arial"/>
              </a:rPr>
              <a:t>AQ1</a:t>
            </a:r>
          </a:p>
        </p:txBody>
      </p:sp>
      <p:sp>
        <p:nvSpPr>
          <p:cNvPr id="13" name="矩形 12">
            <a:extLst>
              <a:ext uri="{FF2B5EF4-FFF2-40B4-BE49-F238E27FC236}">
                <a16:creationId xmlns:a16="http://schemas.microsoft.com/office/drawing/2014/main" id="{8A78069E-E6FF-4D5E-91F8-06DBEA6FFBF1}"/>
              </a:ext>
            </a:extLst>
          </p:cNvPr>
          <p:cNvSpPr>
            <a:spLocks noGrp="1"/>
          </p:cNvSpPr>
          <p:nvPr/>
        </p:nvSpPr>
        <p:spPr>
          <a:xfrm>
            <a:off x="7181850" y="2476500"/>
            <a:ext cx="4095750" cy="438150"/>
          </a:xfrm>
          <a:prstGeom prst="rect">
            <a:avLst/>
          </a:prstGeom>
          <a:noFill/>
          <a:ln w="0">
            <a:noFill/>
            <a:prstDash val="solid"/>
          </a:ln>
        </p:spPr>
        <p:txBody>
          <a:bodyPr wrap="square" lIns="0" tIns="0" rIns="0" bIns="0" anchor="ctr">
            <a:normAutofit/>
          </a:bodyPr>
          <a:lstStyle/>
          <a:p>
            <a:pPr algn="l">
              <a:lnSpc>
                <a:spcPct val="105000"/>
              </a:lnSpc>
              <a:buNone/>
              <a:defRPr sz="1575" b="0" i="0">
                <a:solidFill>
                  <a:srgbClr val="111827"/>
                </a:solidFill>
                <a:latin typeface="Arial"/>
                <a:ea typeface="Arial"/>
                <a:cs typeface="Arial"/>
              </a:defRPr>
            </a:pPr>
            <a:r>
              <a:rPr sz="1575" b="0" i="0">
                <a:solidFill>
                  <a:srgbClr val="111827"/>
                </a:solidFill>
                <a:latin typeface="Arial"/>
                <a:ea typeface="Arial"/>
                <a:cs typeface="Arial"/>
              </a:rPr>
              <a:t>How large and persistent is late delivery?</a:t>
            </a:r>
          </a:p>
        </p:txBody>
      </p:sp>
      <p:sp>
        <p:nvSpPr>
          <p:cNvPr id="14" name="矩形 13">
            <a:extLst>
              <a:ext uri="{FF2B5EF4-FFF2-40B4-BE49-F238E27FC236}">
                <a16:creationId xmlns:a16="http://schemas.microsoft.com/office/drawing/2014/main" id="{4DFBC700-39D9-4AAC-871E-870BE59D4332}"/>
              </a:ext>
            </a:extLst>
          </p:cNvPr>
          <p:cNvSpPr>
            <a:spLocks noGrp="1"/>
          </p:cNvSpPr>
          <p:nvPr/>
        </p:nvSpPr>
        <p:spPr>
          <a:xfrm>
            <a:off x="6305550" y="3219450"/>
            <a:ext cx="685800" cy="323850"/>
          </a:xfrm>
          <a:prstGeom prst="rect">
            <a:avLst/>
          </a:prstGeom>
          <a:noFill/>
          <a:ln w="0">
            <a:noFill/>
            <a:prstDash val="solid"/>
          </a:ln>
        </p:spPr>
        <p:txBody>
          <a:bodyPr wrap="square" lIns="0" tIns="0" rIns="0" bIns="0" anchor="ctr">
            <a:normAutofit/>
          </a:bodyPr>
          <a:lstStyle/>
          <a:p>
            <a:pPr algn="l">
              <a:lnSpc>
                <a:spcPct val="105000"/>
              </a:lnSpc>
              <a:buNone/>
              <a:defRPr sz="1575" b="1" i="0">
                <a:solidFill>
                  <a:srgbClr val="3D8DFF"/>
                </a:solidFill>
                <a:latin typeface="Arial"/>
                <a:ea typeface="Arial"/>
                <a:cs typeface="Arial"/>
              </a:defRPr>
            </a:pPr>
            <a:r>
              <a:rPr sz="1575" b="1" i="0">
                <a:solidFill>
                  <a:srgbClr val="3D8DFF"/>
                </a:solidFill>
                <a:latin typeface="Arial"/>
                <a:ea typeface="Arial"/>
                <a:cs typeface="Arial"/>
              </a:rPr>
              <a:t>AQ2</a:t>
            </a:r>
          </a:p>
        </p:txBody>
      </p:sp>
      <p:sp>
        <p:nvSpPr>
          <p:cNvPr id="15" name="矩形 14">
            <a:extLst>
              <a:ext uri="{FF2B5EF4-FFF2-40B4-BE49-F238E27FC236}">
                <a16:creationId xmlns:a16="http://schemas.microsoft.com/office/drawing/2014/main" id="{68878910-092D-4E5A-8B57-A023D5FAC007}"/>
              </a:ext>
            </a:extLst>
          </p:cNvPr>
          <p:cNvSpPr>
            <a:spLocks noGrp="1"/>
          </p:cNvSpPr>
          <p:nvPr/>
        </p:nvSpPr>
        <p:spPr>
          <a:xfrm>
            <a:off x="7181850" y="3219450"/>
            <a:ext cx="4095750" cy="438150"/>
          </a:xfrm>
          <a:prstGeom prst="rect">
            <a:avLst/>
          </a:prstGeom>
          <a:noFill/>
          <a:ln w="0">
            <a:noFill/>
            <a:prstDash val="solid"/>
          </a:ln>
        </p:spPr>
        <p:txBody>
          <a:bodyPr wrap="square" lIns="0" tIns="0" rIns="0" bIns="0" anchor="ctr">
            <a:normAutofit fontScale="94424" lnSpcReduction="10000"/>
          </a:bodyPr>
          <a:lstStyle/>
          <a:p>
            <a:pPr algn="l">
              <a:lnSpc>
                <a:spcPct val="105000"/>
              </a:lnSpc>
              <a:buNone/>
              <a:defRPr sz="1575" b="0" i="0">
                <a:solidFill>
                  <a:srgbClr val="111827"/>
                </a:solidFill>
                <a:latin typeface="Arial"/>
                <a:ea typeface="Arial"/>
                <a:cs typeface="Arial"/>
              </a:defRPr>
            </a:pPr>
            <a:r>
              <a:rPr sz="1575" b="0" i="0">
                <a:solidFill>
                  <a:srgbClr val="111827"/>
                </a:solidFill>
                <a:latin typeface="Arial"/>
                <a:ea typeface="Arial"/>
                <a:cs typeface="Arial"/>
              </a:rPr>
              <a:t>Which operational attributes show the clearest association?</a:t>
            </a:r>
          </a:p>
        </p:txBody>
      </p:sp>
      <p:sp>
        <p:nvSpPr>
          <p:cNvPr id="16" name="矩形 15">
            <a:extLst>
              <a:ext uri="{FF2B5EF4-FFF2-40B4-BE49-F238E27FC236}">
                <a16:creationId xmlns:a16="http://schemas.microsoft.com/office/drawing/2014/main" id="{3AC475AA-9D08-4973-994C-65F74F1D8D40}"/>
              </a:ext>
            </a:extLst>
          </p:cNvPr>
          <p:cNvSpPr>
            <a:spLocks noGrp="1"/>
          </p:cNvSpPr>
          <p:nvPr/>
        </p:nvSpPr>
        <p:spPr>
          <a:xfrm>
            <a:off x="6305550" y="3962400"/>
            <a:ext cx="685800" cy="323850"/>
          </a:xfrm>
          <a:prstGeom prst="rect">
            <a:avLst/>
          </a:prstGeom>
          <a:noFill/>
          <a:ln w="0">
            <a:noFill/>
            <a:prstDash val="solid"/>
          </a:ln>
        </p:spPr>
        <p:txBody>
          <a:bodyPr wrap="square" lIns="0" tIns="0" rIns="0" bIns="0" anchor="ctr">
            <a:normAutofit/>
          </a:bodyPr>
          <a:lstStyle/>
          <a:p>
            <a:pPr algn="l">
              <a:lnSpc>
                <a:spcPct val="105000"/>
              </a:lnSpc>
              <a:buNone/>
              <a:defRPr sz="1575" b="1" i="0">
                <a:solidFill>
                  <a:srgbClr val="3D8DFF"/>
                </a:solidFill>
                <a:latin typeface="Arial"/>
                <a:ea typeface="Arial"/>
                <a:cs typeface="Arial"/>
              </a:defRPr>
            </a:pPr>
            <a:r>
              <a:rPr sz="1575" b="1" i="0">
                <a:solidFill>
                  <a:srgbClr val="3D8DFF"/>
                </a:solidFill>
                <a:latin typeface="Arial"/>
                <a:ea typeface="Arial"/>
                <a:cs typeface="Arial"/>
              </a:rPr>
              <a:t>AQ3</a:t>
            </a:r>
          </a:p>
        </p:txBody>
      </p:sp>
      <p:sp>
        <p:nvSpPr>
          <p:cNvPr id="17" name="矩形 16">
            <a:extLst>
              <a:ext uri="{FF2B5EF4-FFF2-40B4-BE49-F238E27FC236}">
                <a16:creationId xmlns:a16="http://schemas.microsoft.com/office/drawing/2014/main" id="{991851D7-5939-4930-A8CB-68D2E6057576}"/>
              </a:ext>
            </a:extLst>
          </p:cNvPr>
          <p:cNvSpPr>
            <a:spLocks noGrp="1"/>
          </p:cNvSpPr>
          <p:nvPr/>
        </p:nvSpPr>
        <p:spPr>
          <a:xfrm>
            <a:off x="7181850" y="3962400"/>
            <a:ext cx="4095750" cy="438150"/>
          </a:xfrm>
          <a:prstGeom prst="rect">
            <a:avLst/>
          </a:prstGeom>
          <a:noFill/>
          <a:ln w="0">
            <a:noFill/>
            <a:prstDash val="solid"/>
          </a:ln>
        </p:spPr>
        <p:txBody>
          <a:bodyPr wrap="square" lIns="0" tIns="0" rIns="0" bIns="0" anchor="ctr">
            <a:normAutofit fontScale="96707" lnSpcReduction="10000"/>
          </a:bodyPr>
          <a:lstStyle/>
          <a:p>
            <a:pPr algn="l">
              <a:lnSpc>
                <a:spcPct val="105000"/>
              </a:lnSpc>
              <a:buNone/>
              <a:defRPr sz="1575" b="0" i="0">
                <a:solidFill>
                  <a:srgbClr val="111827"/>
                </a:solidFill>
                <a:latin typeface="Arial"/>
                <a:ea typeface="Arial"/>
                <a:cs typeface="Arial"/>
              </a:defRPr>
            </a:pPr>
            <a:r>
              <a:rPr sz="1575" b="0" i="0">
                <a:solidFill>
                  <a:srgbClr val="111827"/>
                </a:solidFill>
                <a:latin typeface="Arial"/>
                <a:ea typeface="Arial"/>
                <a:cs typeface="Arial"/>
              </a:rPr>
              <a:t>Does a simple model rank risk better than baseline?</a:t>
            </a:r>
          </a:p>
        </p:txBody>
      </p:sp>
      <p:sp>
        <p:nvSpPr>
          <p:cNvPr id="18" name="矩形 17">
            <a:extLst>
              <a:ext uri="{FF2B5EF4-FFF2-40B4-BE49-F238E27FC236}">
                <a16:creationId xmlns:a16="http://schemas.microsoft.com/office/drawing/2014/main" id="{FE024E37-992C-49F9-9BB6-3F8790BE0C28}"/>
              </a:ext>
            </a:extLst>
          </p:cNvPr>
          <p:cNvSpPr>
            <a:spLocks noGrp="1"/>
          </p:cNvSpPr>
          <p:nvPr/>
        </p:nvSpPr>
        <p:spPr>
          <a:xfrm>
            <a:off x="6305550" y="4705350"/>
            <a:ext cx="685800" cy="323850"/>
          </a:xfrm>
          <a:prstGeom prst="rect">
            <a:avLst/>
          </a:prstGeom>
          <a:noFill/>
          <a:ln w="0">
            <a:noFill/>
            <a:prstDash val="solid"/>
          </a:ln>
        </p:spPr>
        <p:txBody>
          <a:bodyPr wrap="square" lIns="0" tIns="0" rIns="0" bIns="0" anchor="ctr">
            <a:normAutofit/>
          </a:bodyPr>
          <a:lstStyle/>
          <a:p>
            <a:pPr algn="l">
              <a:lnSpc>
                <a:spcPct val="105000"/>
              </a:lnSpc>
              <a:buNone/>
              <a:defRPr sz="1575" b="1" i="0">
                <a:solidFill>
                  <a:srgbClr val="3D8DFF"/>
                </a:solidFill>
                <a:latin typeface="Arial"/>
                <a:ea typeface="Arial"/>
                <a:cs typeface="Arial"/>
              </a:defRPr>
            </a:pPr>
            <a:r>
              <a:rPr sz="1575" b="1" i="0">
                <a:solidFill>
                  <a:srgbClr val="3D8DFF"/>
                </a:solidFill>
                <a:latin typeface="Arial"/>
                <a:ea typeface="Arial"/>
                <a:cs typeface="Arial"/>
              </a:rPr>
              <a:t>AQ4</a:t>
            </a:r>
          </a:p>
        </p:txBody>
      </p:sp>
      <p:sp>
        <p:nvSpPr>
          <p:cNvPr id="19" name="矩形 18">
            <a:extLst>
              <a:ext uri="{FF2B5EF4-FFF2-40B4-BE49-F238E27FC236}">
                <a16:creationId xmlns:a16="http://schemas.microsoft.com/office/drawing/2014/main" id="{55EC5D08-99DC-4DAD-8752-7B5BEF9AA73C}"/>
              </a:ext>
            </a:extLst>
          </p:cNvPr>
          <p:cNvSpPr>
            <a:spLocks noGrp="1"/>
          </p:cNvSpPr>
          <p:nvPr/>
        </p:nvSpPr>
        <p:spPr>
          <a:xfrm>
            <a:off x="7181850" y="4705350"/>
            <a:ext cx="4095750" cy="438150"/>
          </a:xfrm>
          <a:prstGeom prst="rect">
            <a:avLst/>
          </a:prstGeom>
          <a:noFill/>
          <a:ln w="0">
            <a:noFill/>
            <a:prstDash val="solid"/>
          </a:ln>
        </p:spPr>
        <p:txBody>
          <a:bodyPr wrap="square" lIns="0" tIns="0" rIns="0" bIns="0" anchor="ctr">
            <a:normAutofit fontScale="94424" lnSpcReduction="10000"/>
          </a:bodyPr>
          <a:lstStyle/>
          <a:p>
            <a:pPr algn="l">
              <a:lnSpc>
                <a:spcPct val="105000"/>
              </a:lnSpc>
              <a:buNone/>
              <a:defRPr sz="1575" b="0" i="0">
                <a:solidFill>
                  <a:srgbClr val="111827"/>
                </a:solidFill>
                <a:latin typeface="Arial"/>
                <a:ea typeface="Arial"/>
                <a:cs typeface="Arial"/>
              </a:defRPr>
            </a:pPr>
            <a:r>
              <a:rPr sz="1575" b="0" i="0">
                <a:solidFill>
                  <a:srgbClr val="111827"/>
                </a:solidFill>
                <a:latin typeface="Arial"/>
                <a:ea typeface="Arial"/>
                <a:cs typeface="Arial"/>
              </a:rPr>
              <a:t>What changes at 5%, 10%, and 20% review capacity?</a:t>
            </a:r>
          </a:p>
        </p:txBody>
      </p:sp>
      <p:sp>
        <p:nvSpPr>
          <p:cNvPr id="20" name="矩形 19">
            <a:extLst>
              <a:ext uri="{FF2B5EF4-FFF2-40B4-BE49-F238E27FC236}">
                <a16:creationId xmlns:a16="http://schemas.microsoft.com/office/drawing/2014/main" id="{78253504-5CC6-417F-AF36-A67731A9E873}"/>
              </a:ext>
            </a:extLst>
          </p:cNvPr>
          <p:cNvSpPr>
            <a:spLocks noGrp="1"/>
          </p:cNvSpPr>
          <p:nvPr/>
        </p:nvSpPr>
        <p:spPr>
          <a:xfrm>
            <a:off x="6438900" y="5410200"/>
            <a:ext cx="1047750" cy="34290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3D8DFF"/>
                </a:solidFill>
                <a:latin typeface="Arial"/>
                <a:ea typeface="Arial"/>
                <a:cs typeface="Arial"/>
              </a:defRPr>
            </a:pPr>
            <a:r>
              <a:rPr sz="2100" b="1" i="0">
                <a:solidFill>
                  <a:srgbClr val="3D8DFF"/>
                </a:solidFill>
                <a:latin typeface="Arial"/>
                <a:ea typeface="Arial"/>
                <a:cs typeface="Arial"/>
              </a:rPr>
              <a:t>5%</a:t>
            </a:r>
          </a:p>
        </p:txBody>
      </p:sp>
      <p:sp>
        <p:nvSpPr>
          <p:cNvPr id="21" name="矩形 20">
            <a:extLst>
              <a:ext uri="{FF2B5EF4-FFF2-40B4-BE49-F238E27FC236}">
                <a16:creationId xmlns:a16="http://schemas.microsoft.com/office/drawing/2014/main" id="{17C7066F-1F31-4BED-9B03-BE9A40600766}"/>
              </a:ext>
            </a:extLst>
          </p:cNvPr>
          <p:cNvSpPr>
            <a:spLocks noGrp="1"/>
          </p:cNvSpPr>
          <p:nvPr/>
        </p:nvSpPr>
        <p:spPr>
          <a:xfrm>
            <a:off x="8096250" y="5410200"/>
            <a:ext cx="1047750" cy="34290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3D8DFF"/>
                </a:solidFill>
                <a:latin typeface="Arial"/>
                <a:ea typeface="Arial"/>
                <a:cs typeface="Arial"/>
              </a:defRPr>
            </a:pPr>
            <a:r>
              <a:rPr sz="2100" b="1" i="0">
                <a:solidFill>
                  <a:srgbClr val="3D8DFF"/>
                </a:solidFill>
                <a:latin typeface="Arial"/>
                <a:ea typeface="Arial"/>
                <a:cs typeface="Arial"/>
              </a:rPr>
              <a:t>10%</a:t>
            </a:r>
          </a:p>
        </p:txBody>
      </p:sp>
      <p:sp>
        <p:nvSpPr>
          <p:cNvPr id="22" name="矩形 21">
            <a:extLst>
              <a:ext uri="{FF2B5EF4-FFF2-40B4-BE49-F238E27FC236}">
                <a16:creationId xmlns:a16="http://schemas.microsoft.com/office/drawing/2014/main" id="{DC424F2D-CA37-4A6F-BF38-0E06E9FD6CD7}"/>
              </a:ext>
            </a:extLst>
          </p:cNvPr>
          <p:cNvSpPr>
            <a:spLocks noGrp="1"/>
          </p:cNvSpPr>
          <p:nvPr/>
        </p:nvSpPr>
        <p:spPr>
          <a:xfrm>
            <a:off x="9810750" y="5410200"/>
            <a:ext cx="1047750" cy="34290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3D8DFF"/>
                </a:solidFill>
                <a:latin typeface="Arial"/>
                <a:ea typeface="Arial"/>
                <a:cs typeface="Arial"/>
              </a:defRPr>
            </a:pPr>
            <a:r>
              <a:rPr sz="2100" b="1" i="0">
                <a:solidFill>
                  <a:srgbClr val="3D8DFF"/>
                </a:solidFill>
                <a:latin typeface="Arial"/>
                <a:ea typeface="Arial"/>
                <a:cs typeface="Arial"/>
              </a:rPr>
              <a:t>20%</a:t>
            </a:r>
          </a:p>
        </p:txBody>
      </p:sp>
    </p:spTree>
    <p:extLst>
      <p:ext uri="{BB962C8B-B14F-4D97-AF65-F5344CB8AC3E}">
        <p14:creationId xmlns:p14="http://schemas.microsoft.com/office/powerpoint/2010/main" val="1465136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BC31C2F1-C6BE-43ED-A2D7-8A55B5B642C7}"/>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DATA AND METHOD</a:t>
            </a:r>
          </a:p>
        </p:txBody>
      </p:sp>
      <p:sp>
        <p:nvSpPr>
          <p:cNvPr id="2" name="矩形 1">
            <a:extLst>
              <a:ext uri="{FF2B5EF4-FFF2-40B4-BE49-F238E27FC236}">
                <a16:creationId xmlns:a16="http://schemas.microsoft.com/office/drawing/2014/main" id="{013463C1-418D-4967-9B4F-9E5974B53586}"/>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A leakage-safe workflow tests decisions on later orders</a:t>
            </a:r>
          </a:p>
        </p:txBody>
      </p:sp>
      <p:sp>
        <p:nvSpPr>
          <p:cNvPr id="3" name="直接连接符 2">
            <a:extLst>
              <a:ext uri="{FF2B5EF4-FFF2-40B4-BE49-F238E27FC236}">
                <a16:creationId xmlns:a16="http://schemas.microsoft.com/office/drawing/2014/main" id="{BC21914D-C541-4CCD-901A-D62DA14C47E0}"/>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A473D847-53E2-496C-A5EC-7DAD539D1500}"/>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820FFBF5-E197-49DC-8E06-99010AC1B63E}"/>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3</a:t>
            </a:r>
          </a:p>
        </p:txBody>
      </p:sp>
      <p:sp>
        <p:nvSpPr>
          <p:cNvPr id="6" name="直接连接符 5">
            <a:extLst>
              <a:ext uri="{FF2B5EF4-FFF2-40B4-BE49-F238E27FC236}">
                <a16:creationId xmlns:a16="http://schemas.microsoft.com/office/drawing/2014/main" id="{D59167B2-96F8-451D-BABE-6FF80D00B4CB}"/>
              </a:ext>
            </a:extLst>
          </p:cNvPr>
          <p:cNvSpPr>
            <a:spLocks noGrp="1"/>
          </p:cNvSpPr>
          <p:nvPr/>
        </p:nvSpPr>
        <p:spPr>
          <a:xfrm>
            <a:off x="914400" y="3219450"/>
            <a:ext cx="10287000" cy="0"/>
          </a:xfrm>
          <a:prstGeom prst="line">
            <a:avLst/>
          </a:prstGeom>
          <a:noFill/>
          <a:ln w="28575">
            <a:solidFill>
              <a:srgbClr val="D0D5DD"/>
            </a:solidFill>
            <a:prstDash val="solid"/>
          </a:ln>
        </p:spPr>
        <p:txBody>
          <a:bodyPr/>
          <a:lstStyle/>
          <a:p>
            <a:endParaRPr lang="zh-CN" altLang="en-US"/>
          </a:p>
        </p:txBody>
      </p:sp>
      <p:sp>
        <p:nvSpPr>
          <p:cNvPr id="7" name="椭圆 6">
            <a:extLst>
              <a:ext uri="{FF2B5EF4-FFF2-40B4-BE49-F238E27FC236}">
                <a16:creationId xmlns:a16="http://schemas.microsoft.com/office/drawing/2014/main" id="{C4C24118-B1F0-420F-B4B0-982AEAE4735A}"/>
              </a:ext>
            </a:extLst>
          </p:cNvPr>
          <p:cNvSpPr>
            <a:spLocks noGrp="1"/>
          </p:cNvSpPr>
          <p:nvPr/>
        </p:nvSpPr>
        <p:spPr>
          <a:xfrm>
            <a:off x="1409700" y="3114675"/>
            <a:ext cx="209550" cy="209550"/>
          </a:xfrm>
          <a:prstGeom prst="ellipse">
            <a:avLst/>
          </a:prstGeom>
          <a:solidFill>
            <a:srgbClr val="3D8DFF"/>
          </a:solidFill>
          <a:ln w="0">
            <a:solidFill>
              <a:srgbClr val="3D8DFF"/>
            </a:solidFill>
            <a:prstDash val="solid"/>
          </a:ln>
        </p:spPr>
        <p:txBody>
          <a:bodyPr/>
          <a:lstStyle/>
          <a:p>
            <a:endParaRPr lang="zh-CN" altLang="en-US"/>
          </a:p>
        </p:txBody>
      </p:sp>
      <p:sp>
        <p:nvSpPr>
          <p:cNvPr id="8" name="椭圆 7">
            <a:extLst>
              <a:ext uri="{FF2B5EF4-FFF2-40B4-BE49-F238E27FC236}">
                <a16:creationId xmlns:a16="http://schemas.microsoft.com/office/drawing/2014/main" id="{9E6214C6-5AAC-4849-AA5D-7BEC4230C498}"/>
              </a:ext>
            </a:extLst>
          </p:cNvPr>
          <p:cNvSpPr>
            <a:spLocks noGrp="1"/>
          </p:cNvSpPr>
          <p:nvPr/>
        </p:nvSpPr>
        <p:spPr>
          <a:xfrm>
            <a:off x="5238750" y="3114675"/>
            <a:ext cx="209550" cy="209550"/>
          </a:xfrm>
          <a:prstGeom prst="ellipse">
            <a:avLst/>
          </a:prstGeom>
          <a:solidFill>
            <a:srgbClr val="3D8DFF"/>
          </a:solidFill>
          <a:ln w="0">
            <a:solidFill>
              <a:srgbClr val="3D8DFF"/>
            </a:solidFill>
            <a:prstDash val="solid"/>
          </a:ln>
        </p:spPr>
        <p:txBody>
          <a:bodyPr/>
          <a:lstStyle/>
          <a:p>
            <a:endParaRPr lang="zh-CN" altLang="en-US"/>
          </a:p>
        </p:txBody>
      </p:sp>
      <p:sp>
        <p:nvSpPr>
          <p:cNvPr id="9" name="椭圆 8">
            <a:extLst>
              <a:ext uri="{FF2B5EF4-FFF2-40B4-BE49-F238E27FC236}">
                <a16:creationId xmlns:a16="http://schemas.microsoft.com/office/drawing/2014/main" id="{F4518708-3D2E-4A5B-9F72-11BB6B913ADB}"/>
              </a:ext>
            </a:extLst>
          </p:cNvPr>
          <p:cNvSpPr>
            <a:spLocks noGrp="1"/>
          </p:cNvSpPr>
          <p:nvPr/>
        </p:nvSpPr>
        <p:spPr>
          <a:xfrm>
            <a:off x="9067800" y="3114675"/>
            <a:ext cx="209550" cy="209550"/>
          </a:xfrm>
          <a:prstGeom prst="ellipse">
            <a:avLst/>
          </a:prstGeom>
          <a:solidFill>
            <a:srgbClr val="3D8DFF"/>
          </a:solidFill>
          <a:ln w="0">
            <a:solidFill>
              <a:srgbClr val="3D8DFF"/>
            </a:solidFill>
            <a:prstDash val="solid"/>
          </a:ln>
        </p:spPr>
        <p:txBody>
          <a:bodyPr/>
          <a:lstStyle/>
          <a:p>
            <a:endParaRPr lang="zh-CN" altLang="en-US"/>
          </a:p>
        </p:txBody>
      </p:sp>
      <p:sp>
        <p:nvSpPr>
          <p:cNvPr id="10" name="矩形 9">
            <a:extLst>
              <a:ext uri="{FF2B5EF4-FFF2-40B4-BE49-F238E27FC236}">
                <a16:creationId xmlns:a16="http://schemas.microsoft.com/office/drawing/2014/main" id="{7CE2154E-F5A3-4966-8C60-BB264E4BB184}"/>
              </a:ext>
            </a:extLst>
          </p:cNvPr>
          <p:cNvSpPr>
            <a:spLocks noGrp="1"/>
          </p:cNvSpPr>
          <p:nvPr/>
        </p:nvSpPr>
        <p:spPr>
          <a:xfrm>
            <a:off x="742950" y="2333625"/>
            <a:ext cx="3048000" cy="28575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HISTORICAL SCOPE</a:t>
            </a:r>
          </a:p>
        </p:txBody>
      </p:sp>
      <p:sp>
        <p:nvSpPr>
          <p:cNvPr id="11" name="矩形 10">
            <a:extLst>
              <a:ext uri="{FF2B5EF4-FFF2-40B4-BE49-F238E27FC236}">
                <a16:creationId xmlns:a16="http://schemas.microsoft.com/office/drawing/2014/main" id="{C9D828D0-7E3E-426B-A62B-512BB05194D4}"/>
              </a:ext>
            </a:extLst>
          </p:cNvPr>
          <p:cNvSpPr>
            <a:spLocks noGrp="1"/>
          </p:cNvSpPr>
          <p:nvPr/>
        </p:nvSpPr>
        <p:spPr>
          <a:xfrm>
            <a:off x="742950" y="3638550"/>
            <a:ext cx="3048000" cy="476250"/>
          </a:xfrm>
          <a:prstGeom prst="rect">
            <a:avLst/>
          </a:prstGeom>
          <a:noFill/>
          <a:ln w="0">
            <a:noFill/>
            <a:prstDash val="solid"/>
          </a:ln>
        </p:spPr>
        <p:txBody>
          <a:bodyPr wrap="square" lIns="0" tIns="0" rIns="0" bIns="0" anchor="t">
            <a:normAutofit/>
          </a:bodyPr>
          <a:lstStyle/>
          <a:p>
            <a:pPr algn="l">
              <a:lnSpc>
                <a:spcPct val="105000"/>
              </a:lnSpc>
              <a:buNone/>
              <a:defRPr sz="2550" b="1" i="0">
                <a:solidFill>
                  <a:srgbClr val="111827"/>
                </a:solidFill>
                <a:latin typeface="Arial"/>
                <a:ea typeface="Arial"/>
                <a:cs typeface="Arial"/>
              </a:defRPr>
            </a:pPr>
            <a:r>
              <a:rPr sz="2550" b="1" i="0">
                <a:solidFill>
                  <a:srgbClr val="111827"/>
                </a:solidFill>
                <a:latin typeface="Arial"/>
                <a:ea typeface="Arial"/>
                <a:cs typeface="Arial"/>
              </a:rPr>
              <a:t>62,897 orders</a:t>
            </a:r>
          </a:p>
        </p:txBody>
      </p:sp>
      <p:sp>
        <p:nvSpPr>
          <p:cNvPr id="12" name="矩形 11">
            <a:extLst>
              <a:ext uri="{FF2B5EF4-FFF2-40B4-BE49-F238E27FC236}">
                <a16:creationId xmlns:a16="http://schemas.microsoft.com/office/drawing/2014/main" id="{16B5948A-AFAE-4E8A-8791-0D91D8F92F8A}"/>
              </a:ext>
            </a:extLst>
          </p:cNvPr>
          <p:cNvSpPr>
            <a:spLocks noGrp="1"/>
          </p:cNvSpPr>
          <p:nvPr/>
        </p:nvSpPr>
        <p:spPr>
          <a:xfrm>
            <a:off x="742950" y="4305300"/>
            <a:ext cx="3048000" cy="876300"/>
          </a:xfrm>
          <a:prstGeom prst="rect">
            <a:avLst/>
          </a:prstGeom>
          <a:noFill/>
          <a:ln w="0">
            <a:noFill/>
            <a:prstDash val="solid"/>
          </a:ln>
        </p:spPr>
        <p:txBody>
          <a:bodyPr wrap="square" lIns="0" tIns="0" rIns="0" bIns="0" anchor="t">
            <a:normAutofit/>
          </a:bodyPr>
          <a:lstStyle/>
          <a:p>
            <a:pPr algn="l">
              <a:lnSpc>
                <a:spcPct val="120000"/>
              </a:lnSpc>
              <a:buNone/>
              <a:defRPr sz="1575" b="0" i="0">
                <a:solidFill>
                  <a:srgbClr val="667085"/>
                </a:solidFill>
                <a:latin typeface="Arial"/>
                <a:ea typeface="Arial"/>
                <a:cs typeface="Arial"/>
              </a:defRPr>
            </a:pPr>
            <a:r>
              <a:rPr sz="1575" b="0" i="0">
                <a:solidFill>
                  <a:srgbClr val="667085"/>
                </a:solidFill>
                <a:latin typeface="Arial"/>
                <a:ea typeface="Arial"/>
                <a:cs typeface="Arial"/>
              </a:rPr>
              <a:t>Jan 2015 - Jan 2018</a:t>
            </a:r>
          </a:p>
          <a:p>
            <a:pPr algn="l">
              <a:lnSpc>
                <a:spcPct val="120000"/>
              </a:lnSpc>
              <a:buNone/>
              <a:defRPr sz="1575" b="0" i="0">
                <a:solidFill>
                  <a:srgbClr val="667085"/>
                </a:solidFill>
                <a:latin typeface="Arial"/>
                <a:ea typeface="Arial"/>
                <a:cs typeface="Arial"/>
              </a:defRPr>
            </a:pPr>
            <a:r>
              <a:rPr sz="1575" b="0" i="0">
                <a:solidFill>
                  <a:srgbClr val="667085"/>
                </a:solidFill>
                <a:latin typeface="Arial"/>
                <a:ea typeface="Arial"/>
                <a:cs typeface="Arial"/>
              </a:rPr>
              <a:t>One eligible order per row</a:t>
            </a:r>
          </a:p>
        </p:txBody>
      </p:sp>
      <p:sp>
        <p:nvSpPr>
          <p:cNvPr id="13" name="矩形 12">
            <a:extLst>
              <a:ext uri="{FF2B5EF4-FFF2-40B4-BE49-F238E27FC236}">
                <a16:creationId xmlns:a16="http://schemas.microsoft.com/office/drawing/2014/main" id="{1705744D-00EF-49CD-82AD-4EF1E6E73000}"/>
              </a:ext>
            </a:extLst>
          </p:cNvPr>
          <p:cNvSpPr>
            <a:spLocks noGrp="1"/>
          </p:cNvSpPr>
          <p:nvPr/>
        </p:nvSpPr>
        <p:spPr>
          <a:xfrm>
            <a:off x="4572000" y="2333625"/>
            <a:ext cx="3048000" cy="28575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TIME-AWARE RANKING</a:t>
            </a:r>
          </a:p>
        </p:txBody>
      </p:sp>
      <p:sp>
        <p:nvSpPr>
          <p:cNvPr id="14" name="矩形 13">
            <a:extLst>
              <a:ext uri="{FF2B5EF4-FFF2-40B4-BE49-F238E27FC236}">
                <a16:creationId xmlns:a16="http://schemas.microsoft.com/office/drawing/2014/main" id="{06BC5340-063E-4829-975F-C1F59DE53AEC}"/>
              </a:ext>
            </a:extLst>
          </p:cNvPr>
          <p:cNvSpPr>
            <a:spLocks noGrp="1"/>
          </p:cNvSpPr>
          <p:nvPr/>
        </p:nvSpPr>
        <p:spPr>
          <a:xfrm>
            <a:off x="4572000" y="3638550"/>
            <a:ext cx="3048000" cy="476250"/>
          </a:xfrm>
          <a:prstGeom prst="rect">
            <a:avLst/>
          </a:prstGeom>
          <a:noFill/>
          <a:ln w="0">
            <a:noFill/>
            <a:prstDash val="solid"/>
          </a:ln>
        </p:spPr>
        <p:txBody>
          <a:bodyPr wrap="square" lIns="0" tIns="0" rIns="0" bIns="0" anchor="t">
            <a:normAutofit/>
          </a:bodyPr>
          <a:lstStyle/>
          <a:p>
            <a:pPr algn="l">
              <a:lnSpc>
                <a:spcPct val="105000"/>
              </a:lnSpc>
              <a:buNone/>
              <a:defRPr sz="2550" b="1" i="0">
                <a:solidFill>
                  <a:srgbClr val="111827"/>
                </a:solidFill>
                <a:latin typeface="Arial"/>
                <a:ea typeface="Arial"/>
                <a:cs typeface="Arial"/>
              </a:defRPr>
            </a:pPr>
            <a:r>
              <a:rPr sz="2550" b="1" i="0">
                <a:solidFill>
                  <a:srgbClr val="111827"/>
                </a:solidFill>
                <a:latin typeface="Arial"/>
                <a:ea typeface="Arial"/>
                <a:cs typeface="Arial"/>
              </a:rPr>
              <a:t>128 + 32 weeks</a:t>
            </a:r>
          </a:p>
        </p:txBody>
      </p:sp>
      <p:sp>
        <p:nvSpPr>
          <p:cNvPr id="15" name="矩形 14">
            <a:extLst>
              <a:ext uri="{FF2B5EF4-FFF2-40B4-BE49-F238E27FC236}">
                <a16:creationId xmlns:a16="http://schemas.microsoft.com/office/drawing/2014/main" id="{D4A6C55F-213F-4DCF-9012-88D7807B92C8}"/>
              </a:ext>
            </a:extLst>
          </p:cNvPr>
          <p:cNvSpPr>
            <a:spLocks noGrp="1"/>
          </p:cNvSpPr>
          <p:nvPr/>
        </p:nvSpPr>
        <p:spPr>
          <a:xfrm>
            <a:off x="4572000" y="4305300"/>
            <a:ext cx="3048000" cy="876300"/>
          </a:xfrm>
          <a:prstGeom prst="rect">
            <a:avLst/>
          </a:prstGeom>
          <a:noFill/>
          <a:ln w="0">
            <a:noFill/>
            <a:prstDash val="solid"/>
          </a:ln>
        </p:spPr>
        <p:txBody>
          <a:bodyPr wrap="square" lIns="0" tIns="0" rIns="0" bIns="0" anchor="t">
            <a:normAutofit/>
          </a:bodyPr>
          <a:lstStyle/>
          <a:p>
            <a:pPr algn="l">
              <a:lnSpc>
                <a:spcPct val="120000"/>
              </a:lnSpc>
              <a:buNone/>
              <a:defRPr sz="1575" b="0" i="0">
                <a:solidFill>
                  <a:srgbClr val="667085"/>
                </a:solidFill>
                <a:latin typeface="Arial"/>
                <a:ea typeface="Arial"/>
                <a:cs typeface="Arial"/>
              </a:defRPr>
            </a:pPr>
            <a:r>
              <a:rPr sz="1575" b="0" i="0">
                <a:solidFill>
                  <a:srgbClr val="667085"/>
                </a:solidFill>
                <a:latin typeface="Arial"/>
                <a:ea typeface="Arial"/>
                <a:cs typeface="Arial"/>
              </a:rPr>
              <a:t>Earlier weeks train</a:t>
            </a:r>
          </a:p>
          <a:p>
            <a:pPr algn="l">
              <a:lnSpc>
                <a:spcPct val="120000"/>
              </a:lnSpc>
              <a:buNone/>
              <a:defRPr sz="1575" b="0" i="0">
                <a:solidFill>
                  <a:srgbClr val="667085"/>
                </a:solidFill>
                <a:latin typeface="Arial"/>
                <a:ea typeface="Arial"/>
                <a:cs typeface="Arial"/>
              </a:defRPr>
            </a:pPr>
            <a:r>
              <a:rPr sz="1575" b="0" i="0">
                <a:solidFill>
                  <a:srgbClr val="667085"/>
                </a:solidFill>
                <a:latin typeface="Arial"/>
                <a:ea typeface="Arial"/>
                <a:cs typeface="Arial"/>
              </a:rPr>
              <a:t>Later weeks remain held out</a:t>
            </a:r>
          </a:p>
        </p:txBody>
      </p:sp>
      <p:sp>
        <p:nvSpPr>
          <p:cNvPr id="16" name="矩形 15">
            <a:extLst>
              <a:ext uri="{FF2B5EF4-FFF2-40B4-BE49-F238E27FC236}">
                <a16:creationId xmlns:a16="http://schemas.microsoft.com/office/drawing/2014/main" id="{C9C1CDD3-25E7-4CC4-B317-098A969194F0}"/>
              </a:ext>
            </a:extLst>
          </p:cNvPr>
          <p:cNvSpPr>
            <a:spLocks noGrp="1"/>
          </p:cNvSpPr>
          <p:nvPr/>
        </p:nvSpPr>
        <p:spPr>
          <a:xfrm>
            <a:off x="8401050" y="2333625"/>
            <a:ext cx="3048000" cy="28575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DECISION TEST</a:t>
            </a:r>
          </a:p>
        </p:txBody>
      </p:sp>
      <p:sp>
        <p:nvSpPr>
          <p:cNvPr id="17" name="矩形 16">
            <a:extLst>
              <a:ext uri="{FF2B5EF4-FFF2-40B4-BE49-F238E27FC236}">
                <a16:creationId xmlns:a16="http://schemas.microsoft.com/office/drawing/2014/main" id="{9ABF3280-40DC-4FDA-8B32-353726020D90}"/>
              </a:ext>
            </a:extLst>
          </p:cNvPr>
          <p:cNvSpPr>
            <a:spLocks noGrp="1"/>
          </p:cNvSpPr>
          <p:nvPr/>
        </p:nvSpPr>
        <p:spPr>
          <a:xfrm>
            <a:off x="8401050" y="3638550"/>
            <a:ext cx="3048000" cy="476250"/>
          </a:xfrm>
          <a:prstGeom prst="rect">
            <a:avLst/>
          </a:prstGeom>
          <a:noFill/>
          <a:ln w="0">
            <a:noFill/>
            <a:prstDash val="solid"/>
          </a:ln>
        </p:spPr>
        <p:txBody>
          <a:bodyPr wrap="square" lIns="0" tIns="0" rIns="0" bIns="0" anchor="t">
            <a:normAutofit/>
          </a:bodyPr>
          <a:lstStyle/>
          <a:p>
            <a:pPr algn="l">
              <a:lnSpc>
                <a:spcPct val="105000"/>
              </a:lnSpc>
              <a:buNone/>
              <a:defRPr sz="2550" b="1" i="0">
                <a:solidFill>
                  <a:srgbClr val="111827"/>
                </a:solidFill>
                <a:latin typeface="Arial"/>
                <a:ea typeface="Arial"/>
                <a:cs typeface="Arial"/>
              </a:defRPr>
            </a:pPr>
            <a:r>
              <a:rPr sz="2550" b="1" i="0">
                <a:solidFill>
                  <a:srgbClr val="111827"/>
                </a:solidFill>
                <a:latin typeface="Arial"/>
                <a:ea typeface="Arial"/>
                <a:cs typeface="Arial"/>
              </a:rPr>
              <a:t>13,525 orders</a:t>
            </a:r>
          </a:p>
        </p:txBody>
      </p:sp>
      <p:sp>
        <p:nvSpPr>
          <p:cNvPr id="18" name="矩形 17">
            <a:extLst>
              <a:ext uri="{FF2B5EF4-FFF2-40B4-BE49-F238E27FC236}">
                <a16:creationId xmlns:a16="http://schemas.microsoft.com/office/drawing/2014/main" id="{CD4EA78E-C2E6-4E5B-81BC-607A52204647}"/>
              </a:ext>
            </a:extLst>
          </p:cNvPr>
          <p:cNvSpPr>
            <a:spLocks noGrp="1"/>
          </p:cNvSpPr>
          <p:nvPr/>
        </p:nvSpPr>
        <p:spPr>
          <a:xfrm>
            <a:off x="8401050" y="4305300"/>
            <a:ext cx="3048000" cy="876300"/>
          </a:xfrm>
          <a:prstGeom prst="rect">
            <a:avLst/>
          </a:prstGeom>
          <a:noFill/>
          <a:ln w="0">
            <a:noFill/>
            <a:prstDash val="solid"/>
          </a:ln>
        </p:spPr>
        <p:txBody>
          <a:bodyPr wrap="square" lIns="0" tIns="0" rIns="0" bIns="0" anchor="t">
            <a:normAutofit/>
          </a:bodyPr>
          <a:lstStyle/>
          <a:p>
            <a:pPr algn="l">
              <a:lnSpc>
                <a:spcPct val="120000"/>
              </a:lnSpc>
              <a:buNone/>
              <a:defRPr sz="1575" b="0" i="0">
                <a:solidFill>
                  <a:srgbClr val="667085"/>
                </a:solidFill>
                <a:latin typeface="Arial"/>
                <a:ea typeface="Arial"/>
                <a:cs typeface="Arial"/>
              </a:defRPr>
            </a:pPr>
            <a:r>
              <a:rPr sz="1575" b="0" i="0">
                <a:solidFill>
                  <a:srgbClr val="667085"/>
                </a:solidFill>
                <a:latin typeface="Arial"/>
                <a:ea typeface="Arial"/>
                <a:cs typeface="Arial"/>
              </a:rPr>
              <a:t>Frozen scores</a:t>
            </a:r>
          </a:p>
          <a:p>
            <a:pPr algn="l">
              <a:lnSpc>
                <a:spcPct val="120000"/>
              </a:lnSpc>
              <a:buNone/>
              <a:defRPr sz="1575" b="0" i="0">
                <a:solidFill>
                  <a:srgbClr val="667085"/>
                </a:solidFill>
                <a:latin typeface="Arial"/>
                <a:ea typeface="Arial"/>
                <a:cs typeface="Arial"/>
              </a:defRPr>
            </a:pPr>
            <a:r>
              <a:rPr sz="1575" b="0" i="0">
                <a:solidFill>
                  <a:srgbClr val="667085"/>
                </a:solidFill>
                <a:latin typeface="Arial"/>
                <a:ea typeface="Arial"/>
                <a:cs typeface="Arial"/>
              </a:rPr>
              <a:t>5% / 10% / 20% capacity</a:t>
            </a:r>
          </a:p>
        </p:txBody>
      </p:sp>
      <p:sp>
        <p:nvSpPr>
          <p:cNvPr id="19" name="矩形: 圆角 18">
            <a:extLst>
              <a:ext uri="{FF2B5EF4-FFF2-40B4-BE49-F238E27FC236}">
                <a16:creationId xmlns:a16="http://schemas.microsoft.com/office/drawing/2014/main" id="{EAD9FF00-B7BA-4201-AA3F-274A3E0A1472}"/>
              </a:ext>
            </a:extLst>
          </p:cNvPr>
          <p:cNvSpPr>
            <a:spLocks noGrp="1"/>
          </p:cNvSpPr>
          <p:nvPr/>
        </p:nvSpPr>
        <p:spPr>
          <a:xfrm>
            <a:off x="742950" y="5467350"/>
            <a:ext cx="10706100" cy="514350"/>
          </a:xfrm>
          <a:prstGeom prst="roundRect">
            <a:avLst>
              <a:gd name="adj" fmla="val 22222"/>
            </a:avLst>
          </a:prstGeom>
          <a:solidFill>
            <a:srgbClr val="EFF8FF"/>
          </a:solidFill>
          <a:ln w="0">
            <a:solidFill>
              <a:srgbClr val="F2F4F7"/>
            </a:solidFill>
            <a:prstDash val="solid"/>
          </a:ln>
        </p:spPr>
        <p:txBody>
          <a:bodyPr/>
          <a:lstStyle/>
          <a:p>
            <a:endParaRPr lang="zh-CN" altLang="en-US"/>
          </a:p>
        </p:txBody>
      </p:sp>
      <p:sp>
        <p:nvSpPr>
          <p:cNvPr id="20" name="矩形 19">
            <a:extLst>
              <a:ext uri="{FF2B5EF4-FFF2-40B4-BE49-F238E27FC236}">
                <a16:creationId xmlns:a16="http://schemas.microsoft.com/office/drawing/2014/main" id="{E75FEB31-5AAD-41F3-A9AF-234EB340D4FF}"/>
              </a:ext>
            </a:extLst>
          </p:cNvPr>
          <p:cNvSpPr>
            <a:spLocks noGrp="1"/>
          </p:cNvSpPr>
          <p:nvPr/>
        </p:nvSpPr>
        <p:spPr>
          <a:xfrm>
            <a:off x="1009650" y="5619750"/>
            <a:ext cx="10172700" cy="266700"/>
          </a:xfrm>
          <a:prstGeom prst="rect">
            <a:avLst/>
          </a:prstGeom>
          <a:noFill/>
          <a:ln w="0">
            <a:noFill/>
            <a:prstDash val="solid"/>
          </a:ln>
        </p:spPr>
        <p:txBody>
          <a:bodyPr wrap="square" lIns="0" tIns="0" rIns="0" bIns="0" anchor="t">
            <a:noAutofit/>
          </a:bodyPr>
          <a:lstStyle/>
          <a:p>
            <a:pPr algn="ctr">
              <a:lnSpc>
                <a:spcPct val="105000"/>
              </a:lnSpc>
              <a:buNone/>
              <a:defRPr sz="1500" b="1" i="0">
                <a:solidFill>
                  <a:srgbClr val="111827"/>
                </a:solidFill>
                <a:latin typeface="Arial"/>
                <a:ea typeface="Arial"/>
                <a:cs typeface="Arial"/>
              </a:defRPr>
            </a:pPr>
            <a:r>
              <a:rPr sz="1500" b="1" i="0">
                <a:solidFill>
                  <a:srgbClr val="111827"/>
                </a:solidFill>
                <a:latin typeface="Arial"/>
                <a:ea typeface="Arial"/>
                <a:cs typeface="Arial"/>
              </a:rPr>
              <a:t>DuckDB SQL -&gt; Python / scikit-learn -&gt; Power BI decision view -&gt; presentation</a:t>
            </a:r>
          </a:p>
        </p:txBody>
      </p:sp>
    </p:spTree>
    <p:extLst>
      <p:ext uri="{BB962C8B-B14F-4D97-AF65-F5344CB8AC3E}">
        <p14:creationId xmlns:p14="http://schemas.microsoft.com/office/powerpoint/2010/main" val="96526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6CA19C2F-3D38-481C-B523-CE643C3A3695}"/>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AQ1 - MEASURE</a:t>
            </a:r>
          </a:p>
        </p:txBody>
      </p:sp>
      <p:sp>
        <p:nvSpPr>
          <p:cNvPr id="2" name="矩形 1">
            <a:extLst>
              <a:ext uri="{FF2B5EF4-FFF2-40B4-BE49-F238E27FC236}">
                <a16:creationId xmlns:a16="http://schemas.microsoft.com/office/drawing/2014/main" id="{28D3C3EB-DA1B-419E-8347-54A41AED4EF0}"/>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AQ1 defines the scale of late delivery</a:t>
            </a:r>
          </a:p>
        </p:txBody>
      </p:sp>
      <p:sp>
        <p:nvSpPr>
          <p:cNvPr id="3" name="直接连接符 2">
            <a:extLst>
              <a:ext uri="{FF2B5EF4-FFF2-40B4-BE49-F238E27FC236}">
                <a16:creationId xmlns:a16="http://schemas.microsoft.com/office/drawing/2014/main" id="{A140EA6D-05A4-4321-B7B6-C950B0D91856}"/>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8134C617-E078-48E7-AB81-5238EA6F90C6}"/>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240FA12F-762F-4A10-8791-78966CD13B38}"/>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4</a:t>
            </a:r>
          </a:p>
        </p:txBody>
      </p:sp>
      <p:sp>
        <p:nvSpPr>
          <p:cNvPr id="6" name="矩形 5">
            <a:extLst>
              <a:ext uri="{FF2B5EF4-FFF2-40B4-BE49-F238E27FC236}">
                <a16:creationId xmlns:a16="http://schemas.microsoft.com/office/drawing/2014/main" id="{4ECCF155-5C79-4FA7-A2F1-08EC75A6B8E7}"/>
              </a:ext>
            </a:extLst>
          </p:cNvPr>
          <p:cNvSpPr>
            <a:spLocks noGrp="1"/>
          </p:cNvSpPr>
          <p:nvPr/>
        </p:nvSpPr>
        <p:spPr>
          <a:xfrm>
            <a:off x="400050" y="1524000"/>
            <a:ext cx="6858000" cy="495300"/>
          </a:xfrm>
          <a:prstGeom prst="rect">
            <a:avLst/>
          </a:prstGeom>
          <a:noFill/>
          <a:ln w="0">
            <a:noFill/>
            <a:prstDash val="solid"/>
          </a:ln>
        </p:spPr>
        <p:txBody>
          <a:bodyPr wrap="square" lIns="0" tIns="0" rIns="0" bIns="0" anchor="t">
            <a:normAutofit/>
          </a:bodyPr>
          <a:lstStyle/>
          <a:p>
            <a:pPr algn="l">
              <a:lnSpc>
                <a:spcPct val="105000"/>
              </a:lnSpc>
              <a:buNone/>
              <a:defRPr sz="2250" b="1" i="0">
                <a:solidFill>
                  <a:srgbClr val="111827"/>
                </a:solidFill>
                <a:latin typeface="Arial"/>
                <a:ea typeface="Arial"/>
                <a:cs typeface="Arial"/>
              </a:defRPr>
            </a:pPr>
            <a:r>
              <a:rPr sz="2250" b="1" i="0">
                <a:solidFill>
                  <a:srgbClr val="111827"/>
                </a:solidFill>
                <a:latin typeface="Arial"/>
                <a:ea typeface="Arial"/>
                <a:cs typeface="Arial"/>
              </a:rPr>
              <a:t>Late-delivery rate = late orders / eligible orders</a:t>
            </a:r>
          </a:p>
        </p:txBody>
      </p:sp>
      <p:sp>
        <p:nvSpPr>
          <p:cNvPr id="7" name="矩形 6">
            <a:extLst>
              <a:ext uri="{FF2B5EF4-FFF2-40B4-BE49-F238E27FC236}">
                <a16:creationId xmlns:a16="http://schemas.microsoft.com/office/drawing/2014/main" id="{F704CB80-95EF-4324-BE79-27740AE1E40F}"/>
              </a:ext>
            </a:extLst>
          </p:cNvPr>
          <p:cNvSpPr>
            <a:spLocks noGrp="1"/>
          </p:cNvSpPr>
          <p:nvPr/>
        </p:nvSpPr>
        <p:spPr>
          <a:xfrm>
            <a:off x="400050" y="2133600"/>
            <a:ext cx="7429500" cy="323850"/>
          </a:xfrm>
          <a:prstGeom prst="rect">
            <a:avLst/>
          </a:prstGeom>
          <a:noFill/>
          <a:ln w="0">
            <a:noFill/>
            <a:prstDash val="solid"/>
          </a:ln>
        </p:spPr>
        <p:txBody>
          <a:bodyPr wrap="square" lIns="0" tIns="0" rIns="0" bIns="0" anchor="t">
            <a:normAutofit/>
          </a:bodyPr>
          <a:lstStyle/>
          <a:p>
            <a:pPr algn="l">
              <a:lnSpc>
                <a:spcPct val="105000"/>
              </a:lnSpc>
              <a:buNone/>
              <a:defRPr sz="1500" b="0" i="0">
                <a:solidFill>
                  <a:srgbClr val="667085"/>
                </a:solidFill>
                <a:latin typeface="Arial"/>
                <a:ea typeface="Arial"/>
                <a:cs typeface="Arial"/>
              </a:defRPr>
            </a:pPr>
            <a:r>
              <a:rPr sz="1500" b="0" i="0">
                <a:solidFill>
                  <a:srgbClr val="667085"/>
                </a:solidFill>
                <a:latin typeface="Arial"/>
                <a:ea typeface="Arial"/>
                <a:cs typeface="Arial"/>
              </a:rPr>
              <a:t>Scope: one eligible order per row, January 2015 to January 2018</a:t>
            </a:r>
          </a:p>
        </p:txBody>
      </p:sp>
      <p:sp>
        <p:nvSpPr>
          <p:cNvPr id="8" name="矩形 7">
            <a:extLst>
              <a:ext uri="{FF2B5EF4-FFF2-40B4-BE49-F238E27FC236}">
                <a16:creationId xmlns:a16="http://schemas.microsoft.com/office/drawing/2014/main" id="{0FB518D8-A3D3-47D1-9545-2860F4CA4DE8}"/>
              </a:ext>
            </a:extLst>
          </p:cNvPr>
          <p:cNvSpPr>
            <a:spLocks noGrp="1"/>
          </p:cNvSpPr>
          <p:nvPr/>
        </p:nvSpPr>
        <p:spPr>
          <a:xfrm>
            <a:off x="8572500" y="1504950"/>
            <a:ext cx="2381250" cy="28575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3D8DFF"/>
                </a:solidFill>
                <a:latin typeface="Arial"/>
                <a:ea typeface="Arial"/>
                <a:cs typeface="Arial"/>
              </a:defRPr>
            </a:pPr>
            <a:r>
              <a:rPr sz="1350" b="1" i="0">
                <a:solidFill>
                  <a:srgbClr val="3D8DFF"/>
                </a:solidFill>
                <a:latin typeface="Arial"/>
                <a:ea typeface="Arial"/>
                <a:cs typeface="Arial"/>
              </a:rPr>
              <a:t>Why it matters</a:t>
            </a:r>
          </a:p>
        </p:txBody>
      </p:sp>
      <p:sp>
        <p:nvSpPr>
          <p:cNvPr id="9" name="矩形 8">
            <a:extLst>
              <a:ext uri="{FF2B5EF4-FFF2-40B4-BE49-F238E27FC236}">
                <a16:creationId xmlns:a16="http://schemas.microsoft.com/office/drawing/2014/main" id="{921699A2-DEDB-4029-B189-4A0FF1FA54E4}"/>
              </a:ext>
            </a:extLst>
          </p:cNvPr>
          <p:cNvSpPr>
            <a:spLocks noGrp="1"/>
          </p:cNvSpPr>
          <p:nvPr/>
        </p:nvSpPr>
        <p:spPr>
          <a:xfrm>
            <a:off x="8572500" y="1905000"/>
            <a:ext cx="2857500" cy="647700"/>
          </a:xfrm>
          <a:prstGeom prst="rect">
            <a:avLst/>
          </a:prstGeom>
          <a:noFill/>
          <a:ln w="0">
            <a:noFill/>
            <a:prstDash val="solid"/>
          </a:ln>
        </p:spPr>
        <p:txBody>
          <a:bodyPr wrap="square" lIns="0" tIns="0" rIns="0" bIns="0" anchor="t">
            <a:normAutofit fontScale="86026"/>
          </a:bodyPr>
          <a:lstStyle/>
          <a:p>
            <a:pPr algn="l">
              <a:lnSpc>
                <a:spcPct val="105000"/>
              </a:lnSpc>
              <a:buNone/>
              <a:defRPr sz="1575" b="0" i="0">
                <a:solidFill>
                  <a:srgbClr val="111827"/>
                </a:solidFill>
                <a:latin typeface="Arial"/>
                <a:ea typeface="Arial"/>
                <a:cs typeface="Arial"/>
              </a:defRPr>
            </a:pPr>
            <a:r>
              <a:rPr sz="1575" b="0" i="0">
                <a:solidFill>
                  <a:srgbClr val="111827"/>
                </a:solidFill>
                <a:latin typeface="Arial"/>
                <a:ea typeface="Arial"/>
                <a:cs typeface="Arial"/>
              </a:rPr>
              <a:t>Creates one consistent basis for comparing performance over time.</a:t>
            </a:r>
          </a:p>
        </p:txBody>
      </p:sp>
      <p:sp>
        <p:nvSpPr>
          <p:cNvPr id="10" name="矩形: 圆角 9">
            <a:extLst>
              <a:ext uri="{FF2B5EF4-FFF2-40B4-BE49-F238E27FC236}">
                <a16:creationId xmlns:a16="http://schemas.microsoft.com/office/drawing/2014/main" id="{4069065B-074C-48DE-BAA0-845F00A30DB5}"/>
              </a:ext>
            </a:extLst>
          </p:cNvPr>
          <p:cNvSpPr>
            <a:spLocks noGrp="1"/>
          </p:cNvSpPr>
          <p:nvPr/>
        </p:nvSpPr>
        <p:spPr>
          <a:xfrm>
            <a:off x="400050" y="2952750"/>
            <a:ext cx="3562350" cy="2971800"/>
          </a:xfrm>
          <a:prstGeom prst="roundRect">
            <a:avLst>
              <a:gd name="adj" fmla="val 3846"/>
            </a:avLst>
          </a:prstGeom>
          <a:solidFill>
            <a:srgbClr val="F2F4F7"/>
          </a:solidFill>
          <a:ln w="0">
            <a:solidFill>
              <a:srgbClr val="F2F4F7"/>
            </a:solidFill>
            <a:prstDash val="solid"/>
          </a:ln>
        </p:spPr>
        <p:txBody>
          <a:bodyPr/>
          <a:lstStyle/>
          <a:p>
            <a:endParaRPr lang="zh-CN" altLang="en-US"/>
          </a:p>
        </p:txBody>
      </p:sp>
      <p:sp>
        <p:nvSpPr>
          <p:cNvPr id="11" name="矩形 10">
            <a:extLst>
              <a:ext uri="{FF2B5EF4-FFF2-40B4-BE49-F238E27FC236}">
                <a16:creationId xmlns:a16="http://schemas.microsoft.com/office/drawing/2014/main" id="{0719CB61-9790-4D80-BF40-E320EB6A6E5D}"/>
              </a:ext>
            </a:extLst>
          </p:cNvPr>
          <p:cNvSpPr>
            <a:spLocks noGrp="1"/>
          </p:cNvSpPr>
          <p:nvPr/>
        </p:nvSpPr>
        <p:spPr>
          <a:xfrm>
            <a:off x="666750" y="3238500"/>
            <a:ext cx="3028950" cy="704850"/>
          </a:xfrm>
          <a:prstGeom prst="rect">
            <a:avLst/>
          </a:prstGeom>
          <a:noFill/>
          <a:ln w="0">
            <a:noFill/>
            <a:prstDash val="solid"/>
          </a:ln>
        </p:spPr>
        <p:txBody>
          <a:bodyPr wrap="square" lIns="0" tIns="0" rIns="0" bIns="0" anchor="b">
            <a:normAutofit/>
          </a:bodyPr>
          <a:lstStyle/>
          <a:p>
            <a:pPr algn="l">
              <a:lnSpc>
                <a:spcPct val="105000"/>
              </a:lnSpc>
              <a:buNone/>
              <a:defRPr sz="3900" b="1" i="0">
                <a:solidFill>
                  <a:srgbClr val="3D8DFF"/>
                </a:solidFill>
                <a:latin typeface="Arial"/>
                <a:ea typeface="Arial"/>
                <a:cs typeface="Arial"/>
              </a:defRPr>
            </a:pPr>
            <a:r>
              <a:rPr sz="3900" b="1" i="0">
                <a:solidFill>
                  <a:srgbClr val="3D8DFF"/>
                </a:solidFill>
                <a:latin typeface="Arial"/>
                <a:ea typeface="Arial"/>
                <a:cs typeface="Arial"/>
              </a:rPr>
              <a:t>62,897</a:t>
            </a:r>
          </a:p>
        </p:txBody>
      </p:sp>
      <p:sp>
        <p:nvSpPr>
          <p:cNvPr id="12" name="矩形 11">
            <a:extLst>
              <a:ext uri="{FF2B5EF4-FFF2-40B4-BE49-F238E27FC236}">
                <a16:creationId xmlns:a16="http://schemas.microsoft.com/office/drawing/2014/main" id="{4A50F387-99B6-48A7-864E-8AAB5AEF1646}"/>
              </a:ext>
            </a:extLst>
          </p:cNvPr>
          <p:cNvSpPr>
            <a:spLocks noGrp="1"/>
          </p:cNvSpPr>
          <p:nvPr/>
        </p:nvSpPr>
        <p:spPr>
          <a:xfrm>
            <a:off x="666750" y="4095750"/>
            <a:ext cx="3028950" cy="381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Eligible orders</a:t>
            </a:r>
          </a:p>
        </p:txBody>
      </p:sp>
      <p:sp>
        <p:nvSpPr>
          <p:cNvPr id="13" name="矩形 12">
            <a:extLst>
              <a:ext uri="{FF2B5EF4-FFF2-40B4-BE49-F238E27FC236}">
                <a16:creationId xmlns:a16="http://schemas.microsoft.com/office/drawing/2014/main" id="{2D00E6AB-2384-4842-85E9-2539891572F7}"/>
              </a:ext>
            </a:extLst>
          </p:cNvPr>
          <p:cNvSpPr>
            <a:spLocks noGrp="1"/>
          </p:cNvSpPr>
          <p:nvPr/>
        </p:nvSpPr>
        <p:spPr>
          <a:xfrm>
            <a:off x="666750" y="4610100"/>
            <a:ext cx="3028950" cy="104775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667085"/>
                </a:solidFill>
                <a:latin typeface="Arial"/>
                <a:ea typeface="Arial"/>
                <a:cs typeface="Arial"/>
              </a:defRPr>
            </a:pPr>
            <a:r>
              <a:rPr sz="1425" b="0" i="0">
                <a:solidFill>
                  <a:srgbClr val="667085"/>
                </a:solidFill>
                <a:latin typeface="Arial"/>
                <a:ea typeface="Arial"/>
                <a:cs typeface="Arial"/>
              </a:rPr>
              <a:t>All validated orders included in the historical analysis.</a:t>
            </a:r>
          </a:p>
        </p:txBody>
      </p:sp>
      <p:sp>
        <p:nvSpPr>
          <p:cNvPr id="14" name="矩形: 圆角 13">
            <a:extLst>
              <a:ext uri="{FF2B5EF4-FFF2-40B4-BE49-F238E27FC236}">
                <a16:creationId xmlns:a16="http://schemas.microsoft.com/office/drawing/2014/main" id="{59AEBC5F-C1AE-49AE-9701-13EFDDDE7D23}"/>
              </a:ext>
            </a:extLst>
          </p:cNvPr>
          <p:cNvSpPr>
            <a:spLocks noGrp="1"/>
          </p:cNvSpPr>
          <p:nvPr/>
        </p:nvSpPr>
        <p:spPr>
          <a:xfrm>
            <a:off x="4314825" y="2952750"/>
            <a:ext cx="3562350" cy="2971800"/>
          </a:xfrm>
          <a:prstGeom prst="roundRect">
            <a:avLst>
              <a:gd name="adj" fmla="val 3846"/>
            </a:avLst>
          </a:prstGeom>
          <a:solidFill>
            <a:srgbClr val="F2F4F7"/>
          </a:solidFill>
          <a:ln w="0">
            <a:solidFill>
              <a:srgbClr val="F2F4F7"/>
            </a:solidFill>
            <a:prstDash val="solid"/>
          </a:ln>
        </p:spPr>
        <p:txBody>
          <a:bodyPr/>
          <a:lstStyle/>
          <a:p>
            <a:endParaRPr lang="zh-CN" altLang="en-US"/>
          </a:p>
        </p:txBody>
      </p:sp>
      <p:sp>
        <p:nvSpPr>
          <p:cNvPr id="15" name="矩形 14">
            <a:extLst>
              <a:ext uri="{FF2B5EF4-FFF2-40B4-BE49-F238E27FC236}">
                <a16:creationId xmlns:a16="http://schemas.microsoft.com/office/drawing/2014/main" id="{C9B90CD0-5AB6-4E57-AA20-5699EFCB7A54}"/>
              </a:ext>
            </a:extLst>
          </p:cNvPr>
          <p:cNvSpPr>
            <a:spLocks noGrp="1"/>
          </p:cNvSpPr>
          <p:nvPr/>
        </p:nvSpPr>
        <p:spPr>
          <a:xfrm>
            <a:off x="4581525" y="3238500"/>
            <a:ext cx="3028950" cy="704850"/>
          </a:xfrm>
          <a:prstGeom prst="rect">
            <a:avLst/>
          </a:prstGeom>
          <a:noFill/>
          <a:ln w="0">
            <a:noFill/>
            <a:prstDash val="solid"/>
          </a:ln>
        </p:spPr>
        <p:txBody>
          <a:bodyPr wrap="square" lIns="0" tIns="0" rIns="0" bIns="0" anchor="b">
            <a:normAutofit/>
          </a:bodyPr>
          <a:lstStyle/>
          <a:p>
            <a:pPr algn="l">
              <a:lnSpc>
                <a:spcPct val="105000"/>
              </a:lnSpc>
              <a:buNone/>
              <a:defRPr sz="3900" b="1" i="0">
                <a:solidFill>
                  <a:srgbClr val="F97316"/>
                </a:solidFill>
                <a:latin typeface="Arial"/>
                <a:ea typeface="Arial"/>
                <a:cs typeface="Arial"/>
              </a:defRPr>
            </a:pPr>
            <a:r>
              <a:rPr sz="3900" b="1" i="0">
                <a:solidFill>
                  <a:srgbClr val="F97316"/>
                </a:solidFill>
                <a:latin typeface="Arial"/>
                <a:ea typeface="Arial"/>
                <a:cs typeface="Arial"/>
              </a:rPr>
              <a:t>36,048</a:t>
            </a:r>
          </a:p>
        </p:txBody>
      </p:sp>
      <p:sp>
        <p:nvSpPr>
          <p:cNvPr id="16" name="矩形 15">
            <a:extLst>
              <a:ext uri="{FF2B5EF4-FFF2-40B4-BE49-F238E27FC236}">
                <a16:creationId xmlns:a16="http://schemas.microsoft.com/office/drawing/2014/main" id="{4B22BE5D-B0E1-4493-AF96-BB2BAE15A264}"/>
              </a:ext>
            </a:extLst>
          </p:cNvPr>
          <p:cNvSpPr>
            <a:spLocks noGrp="1"/>
          </p:cNvSpPr>
          <p:nvPr/>
        </p:nvSpPr>
        <p:spPr>
          <a:xfrm>
            <a:off x="4581525" y="4095750"/>
            <a:ext cx="3028950" cy="381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Late orders</a:t>
            </a:r>
          </a:p>
        </p:txBody>
      </p:sp>
      <p:sp>
        <p:nvSpPr>
          <p:cNvPr id="17" name="矩形 16">
            <a:extLst>
              <a:ext uri="{FF2B5EF4-FFF2-40B4-BE49-F238E27FC236}">
                <a16:creationId xmlns:a16="http://schemas.microsoft.com/office/drawing/2014/main" id="{2588CA84-0751-4D36-9420-4570CD2A2063}"/>
              </a:ext>
            </a:extLst>
          </p:cNvPr>
          <p:cNvSpPr>
            <a:spLocks noGrp="1"/>
          </p:cNvSpPr>
          <p:nvPr/>
        </p:nvSpPr>
        <p:spPr>
          <a:xfrm>
            <a:off x="4581525" y="4610100"/>
            <a:ext cx="3028950" cy="104775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667085"/>
                </a:solidFill>
                <a:latin typeface="Arial"/>
                <a:ea typeface="Arial"/>
                <a:cs typeface="Arial"/>
              </a:defRPr>
            </a:pPr>
            <a:r>
              <a:rPr sz="1425" b="0" i="0">
                <a:solidFill>
                  <a:srgbClr val="667085"/>
                </a:solidFill>
                <a:latin typeface="Arial"/>
                <a:ea typeface="Arial"/>
                <a:cs typeface="Arial"/>
              </a:rPr>
              <a:t>Eligible orders with a recorded late-delivery outcome.</a:t>
            </a:r>
          </a:p>
        </p:txBody>
      </p:sp>
      <p:sp>
        <p:nvSpPr>
          <p:cNvPr id="18" name="矩形: 圆角 17">
            <a:extLst>
              <a:ext uri="{FF2B5EF4-FFF2-40B4-BE49-F238E27FC236}">
                <a16:creationId xmlns:a16="http://schemas.microsoft.com/office/drawing/2014/main" id="{8319EA39-37F5-4327-A356-29F3EEA8E114}"/>
              </a:ext>
            </a:extLst>
          </p:cNvPr>
          <p:cNvSpPr>
            <a:spLocks noGrp="1"/>
          </p:cNvSpPr>
          <p:nvPr/>
        </p:nvSpPr>
        <p:spPr>
          <a:xfrm>
            <a:off x="8229600" y="2952750"/>
            <a:ext cx="3562350" cy="2971800"/>
          </a:xfrm>
          <a:prstGeom prst="roundRect">
            <a:avLst>
              <a:gd name="adj" fmla="val 3846"/>
            </a:avLst>
          </a:prstGeom>
          <a:solidFill>
            <a:srgbClr val="F2F4F7"/>
          </a:solidFill>
          <a:ln w="0">
            <a:solidFill>
              <a:srgbClr val="F2F4F7"/>
            </a:solidFill>
            <a:prstDash val="solid"/>
          </a:ln>
        </p:spPr>
        <p:txBody>
          <a:bodyPr/>
          <a:lstStyle/>
          <a:p>
            <a:endParaRPr lang="zh-CN" altLang="en-US"/>
          </a:p>
        </p:txBody>
      </p:sp>
      <p:sp>
        <p:nvSpPr>
          <p:cNvPr id="19" name="矩形 18">
            <a:extLst>
              <a:ext uri="{FF2B5EF4-FFF2-40B4-BE49-F238E27FC236}">
                <a16:creationId xmlns:a16="http://schemas.microsoft.com/office/drawing/2014/main" id="{2640FD85-1E3A-4058-9253-F02DF317087F}"/>
              </a:ext>
            </a:extLst>
          </p:cNvPr>
          <p:cNvSpPr>
            <a:spLocks noGrp="1"/>
          </p:cNvSpPr>
          <p:nvPr/>
        </p:nvSpPr>
        <p:spPr>
          <a:xfrm>
            <a:off x="8496300" y="3238500"/>
            <a:ext cx="3028950" cy="704850"/>
          </a:xfrm>
          <a:prstGeom prst="rect">
            <a:avLst/>
          </a:prstGeom>
          <a:noFill/>
          <a:ln w="0">
            <a:noFill/>
            <a:prstDash val="solid"/>
          </a:ln>
        </p:spPr>
        <p:txBody>
          <a:bodyPr wrap="square" lIns="0" tIns="0" rIns="0" bIns="0" anchor="b">
            <a:normAutofit/>
          </a:bodyPr>
          <a:lstStyle/>
          <a:p>
            <a:pPr algn="l">
              <a:lnSpc>
                <a:spcPct val="105000"/>
              </a:lnSpc>
              <a:buNone/>
              <a:defRPr sz="3900" b="1" i="0">
                <a:solidFill>
                  <a:srgbClr val="3D8DFF"/>
                </a:solidFill>
                <a:latin typeface="Arial"/>
                <a:ea typeface="Arial"/>
                <a:cs typeface="Arial"/>
              </a:defRPr>
            </a:pPr>
            <a:r>
              <a:rPr sz="3900" b="1" i="0">
                <a:solidFill>
                  <a:srgbClr val="3D8DFF"/>
                </a:solidFill>
                <a:latin typeface="Arial"/>
                <a:ea typeface="Arial"/>
                <a:cs typeface="Arial"/>
              </a:rPr>
              <a:t>57.31%</a:t>
            </a:r>
          </a:p>
        </p:txBody>
      </p:sp>
      <p:sp>
        <p:nvSpPr>
          <p:cNvPr id="20" name="矩形 19">
            <a:extLst>
              <a:ext uri="{FF2B5EF4-FFF2-40B4-BE49-F238E27FC236}">
                <a16:creationId xmlns:a16="http://schemas.microsoft.com/office/drawing/2014/main" id="{70279B6F-F0BF-44F2-8084-87117DB9E391}"/>
              </a:ext>
            </a:extLst>
          </p:cNvPr>
          <p:cNvSpPr>
            <a:spLocks noGrp="1"/>
          </p:cNvSpPr>
          <p:nvPr/>
        </p:nvSpPr>
        <p:spPr>
          <a:xfrm>
            <a:off x="8496300" y="4095750"/>
            <a:ext cx="3028950" cy="381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Late-delivery rate</a:t>
            </a:r>
          </a:p>
        </p:txBody>
      </p:sp>
      <p:sp>
        <p:nvSpPr>
          <p:cNvPr id="21" name="矩形 20">
            <a:extLst>
              <a:ext uri="{FF2B5EF4-FFF2-40B4-BE49-F238E27FC236}">
                <a16:creationId xmlns:a16="http://schemas.microsoft.com/office/drawing/2014/main" id="{FF44BCA1-015F-41EB-9CD1-00F06C0C878D}"/>
              </a:ext>
            </a:extLst>
          </p:cNvPr>
          <p:cNvSpPr>
            <a:spLocks noGrp="1"/>
          </p:cNvSpPr>
          <p:nvPr/>
        </p:nvSpPr>
        <p:spPr>
          <a:xfrm>
            <a:off x="8496300" y="4610100"/>
            <a:ext cx="3028950" cy="104775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667085"/>
                </a:solidFill>
                <a:latin typeface="Arial"/>
                <a:ea typeface="Arial"/>
                <a:cs typeface="Arial"/>
              </a:defRPr>
            </a:pPr>
            <a:r>
              <a:rPr sz="1425" b="0" i="0">
                <a:solidFill>
                  <a:srgbClr val="667085"/>
                </a:solidFill>
                <a:latin typeface="Arial"/>
                <a:ea typeface="Arial"/>
                <a:cs typeface="Arial"/>
              </a:rPr>
              <a:t>The historical share of eligible orders delivered late.</a:t>
            </a:r>
          </a:p>
        </p:txBody>
      </p:sp>
    </p:spTree>
    <p:extLst>
      <p:ext uri="{BB962C8B-B14F-4D97-AF65-F5344CB8AC3E}">
        <p14:creationId xmlns:p14="http://schemas.microsoft.com/office/powerpoint/2010/main" val="403870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B8494E1-739A-48BD-9853-3D9003F9EDDD}"/>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AQ1 - EVIDENCE</a:t>
            </a:r>
          </a:p>
        </p:txBody>
      </p:sp>
      <p:sp>
        <p:nvSpPr>
          <p:cNvPr id="2" name="矩形 1">
            <a:extLst>
              <a:ext uri="{FF2B5EF4-FFF2-40B4-BE49-F238E27FC236}">
                <a16:creationId xmlns:a16="http://schemas.microsoft.com/office/drawing/2014/main" id="{580AD658-62DB-48B8-B4E4-25666DB4E340}"/>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Late delivery stayed high, with no sustained trend</a:t>
            </a:r>
          </a:p>
        </p:txBody>
      </p:sp>
      <p:sp>
        <p:nvSpPr>
          <p:cNvPr id="3" name="直接连接符 2">
            <a:extLst>
              <a:ext uri="{FF2B5EF4-FFF2-40B4-BE49-F238E27FC236}">
                <a16:creationId xmlns:a16="http://schemas.microsoft.com/office/drawing/2014/main" id="{60112F62-F64D-41C8-A822-04604166D3D8}"/>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F7EC9F92-88BD-48B4-B80B-29A38EFD53FF}"/>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63EF8BDF-218D-41A9-82FD-223C62B20447}"/>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5</a:t>
            </a:r>
          </a:p>
        </p:txBody>
      </p:sp>
      <p:sp>
        <p:nvSpPr>
          <p:cNvPr id="7" name="矩形: 圆角 6">
            <a:extLst>
              <a:ext uri="{FF2B5EF4-FFF2-40B4-BE49-F238E27FC236}">
                <a16:creationId xmlns:a16="http://schemas.microsoft.com/office/drawing/2014/main" id="{9989CB59-274B-4FC3-AA05-E3ACC46B2892}"/>
              </a:ext>
            </a:extLst>
          </p:cNvPr>
          <p:cNvSpPr>
            <a:spLocks noGrp="1"/>
          </p:cNvSpPr>
          <p:nvPr/>
        </p:nvSpPr>
        <p:spPr>
          <a:xfrm>
            <a:off x="400050" y="5562600"/>
            <a:ext cx="11391900" cy="552450"/>
          </a:xfrm>
          <a:prstGeom prst="roundRect">
            <a:avLst>
              <a:gd name="adj" fmla="val 20690"/>
            </a:avLst>
          </a:prstGeom>
          <a:solidFill>
            <a:srgbClr val="EFF8FF"/>
          </a:solidFill>
          <a:ln w="0">
            <a:solidFill>
              <a:srgbClr val="F2F4F7"/>
            </a:solidFill>
            <a:prstDash val="solid"/>
          </a:ln>
        </p:spPr>
        <p:txBody>
          <a:bodyPr/>
          <a:lstStyle/>
          <a:p>
            <a:endParaRPr lang="zh-CN" altLang="en-US"/>
          </a:p>
        </p:txBody>
      </p:sp>
      <p:sp>
        <p:nvSpPr>
          <p:cNvPr id="8" name="矩形 7">
            <a:extLst>
              <a:ext uri="{FF2B5EF4-FFF2-40B4-BE49-F238E27FC236}">
                <a16:creationId xmlns:a16="http://schemas.microsoft.com/office/drawing/2014/main" id="{20240831-A039-4C64-AB03-FDC1DD07A1DA}"/>
              </a:ext>
            </a:extLst>
          </p:cNvPr>
          <p:cNvSpPr>
            <a:spLocks noGrp="1"/>
          </p:cNvSpPr>
          <p:nvPr/>
        </p:nvSpPr>
        <p:spPr>
          <a:xfrm>
            <a:off x="647700" y="5715000"/>
            <a:ext cx="10896600" cy="285750"/>
          </a:xfrm>
          <a:prstGeom prst="rect">
            <a:avLst/>
          </a:prstGeom>
          <a:noFill/>
          <a:ln w="0">
            <a:noFill/>
            <a:prstDash val="solid"/>
          </a:ln>
        </p:spPr>
        <p:txBody>
          <a:bodyPr wrap="square" lIns="0" tIns="0" rIns="0" bIns="0" anchor="t">
            <a:noAutofit/>
          </a:bodyPr>
          <a:lstStyle/>
          <a:p>
            <a:pPr algn="ctr">
              <a:lnSpc>
                <a:spcPct val="105000"/>
              </a:lnSpc>
              <a:buNone/>
              <a:defRPr sz="1650" b="1" i="0">
                <a:solidFill>
                  <a:srgbClr val="111827"/>
                </a:solidFill>
                <a:latin typeface="Arial"/>
                <a:ea typeface="Arial"/>
                <a:cs typeface="Arial"/>
              </a:defRPr>
            </a:pPr>
            <a:r>
              <a:rPr sz="1650" b="1" i="0">
                <a:solidFill>
                  <a:srgbClr val="111827"/>
                </a:solidFill>
                <a:latin typeface="Arial"/>
                <a:ea typeface="Arial"/>
                <a:cs typeface="Arial"/>
              </a:rPr>
              <a:t>57.31% overall | 55.04% - 59.86% monthly | No sustained upward or downward trend</a:t>
            </a:r>
          </a:p>
        </p:txBody>
      </p:sp>
      <p:pic>
        <p:nvPicPr>
          <p:cNvPr id="12" name="图片 11">
            <a:extLst>
              <a:ext uri="{FF2B5EF4-FFF2-40B4-BE49-F238E27FC236}">
                <a16:creationId xmlns:a16="http://schemas.microsoft.com/office/drawing/2014/main" id="{061300AC-BEC5-4ADE-A3E8-75ED7B383A59}"/>
              </a:ext>
            </a:extLst>
          </p:cNvPr>
          <p:cNvPicPr>
            <a:picLocks noChangeAspect="1"/>
          </p:cNvPicPr>
          <p:nvPr/>
        </p:nvPicPr>
        <p:blipFill>
          <a:blip r:embed="rId3"/>
          <a:stretch>
            <a:fillRect/>
          </a:stretch>
        </p:blipFill>
        <p:spPr>
          <a:xfrm>
            <a:off x="1383323" y="1372055"/>
            <a:ext cx="9003323" cy="4190545"/>
          </a:xfrm>
          <a:prstGeom prst="rect">
            <a:avLst/>
          </a:prstGeom>
        </p:spPr>
      </p:pic>
    </p:spTree>
    <p:extLst>
      <p:ext uri="{BB962C8B-B14F-4D97-AF65-F5344CB8AC3E}">
        <p14:creationId xmlns:p14="http://schemas.microsoft.com/office/powerpoint/2010/main" val="643824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8AA0862A-389E-433B-A329-67983C71948D}"/>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AQ2 - MEASURE</a:t>
            </a:r>
          </a:p>
        </p:txBody>
      </p:sp>
      <p:sp>
        <p:nvSpPr>
          <p:cNvPr id="2" name="矩形 1">
            <a:extLst>
              <a:ext uri="{FF2B5EF4-FFF2-40B4-BE49-F238E27FC236}">
                <a16:creationId xmlns:a16="http://schemas.microsoft.com/office/drawing/2014/main" id="{DF014FD8-7629-486B-86C6-38D5B9613B13}"/>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AQ2 compares rates across operational groups</a:t>
            </a:r>
          </a:p>
        </p:txBody>
      </p:sp>
      <p:sp>
        <p:nvSpPr>
          <p:cNvPr id="3" name="直接连接符 2">
            <a:extLst>
              <a:ext uri="{FF2B5EF4-FFF2-40B4-BE49-F238E27FC236}">
                <a16:creationId xmlns:a16="http://schemas.microsoft.com/office/drawing/2014/main" id="{8F324920-3141-4F5A-A009-1709A277CFA3}"/>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F8121EB2-46B7-4763-9442-8112C6EBF554}"/>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0CD25E9F-4B2A-4805-984F-8142A16FFFE4}"/>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6</a:t>
            </a:r>
          </a:p>
        </p:txBody>
      </p:sp>
      <p:sp>
        <p:nvSpPr>
          <p:cNvPr id="6" name="矩形: 圆角 5">
            <a:extLst>
              <a:ext uri="{FF2B5EF4-FFF2-40B4-BE49-F238E27FC236}">
                <a16:creationId xmlns:a16="http://schemas.microsoft.com/office/drawing/2014/main" id="{B9F351B8-E707-43A3-9A6C-885A2C1A49F7}"/>
              </a:ext>
            </a:extLst>
          </p:cNvPr>
          <p:cNvSpPr>
            <a:spLocks noGrp="1"/>
          </p:cNvSpPr>
          <p:nvPr/>
        </p:nvSpPr>
        <p:spPr>
          <a:xfrm>
            <a:off x="400050" y="1809750"/>
            <a:ext cx="3562350" cy="2819400"/>
          </a:xfrm>
          <a:prstGeom prst="roundRect">
            <a:avLst>
              <a:gd name="adj" fmla="val 4054"/>
            </a:avLst>
          </a:prstGeom>
          <a:solidFill>
            <a:srgbClr val="F2F4F7"/>
          </a:solidFill>
          <a:ln w="0">
            <a:solidFill>
              <a:srgbClr val="F2F4F7"/>
            </a:solidFill>
            <a:prstDash val="solid"/>
          </a:ln>
        </p:spPr>
        <p:txBody>
          <a:bodyPr/>
          <a:lstStyle/>
          <a:p>
            <a:endParaRPr lang="zh-CN" altLang="en-US"/>
          </a:p>
        </p:txBody>
      </p:sp>
      <p:sp>
        <p:nvSpPr>
          <p:cNvPr id="7" name="矩形 6">
            <a:extLst>
              <a:ext uri="{FF2B5EF4-FFF2-40B4-BE49-F238E27FC236}">
                <a16:creationId xmlns:a16="http://schemas.microsoft.com/office/drawing/2014/main" id="{175D83F6-B264-466B-A53F-1C5AD35440D7}"/>
              </a:ext>
            </a:extLst>
          </p:cNvPr>
          <p:cNvSpPr>
            <a:spLocks noGrp="1"/>
          </p:cNvSpPr>
          <p:nvPr/>
        </p:nvSpPr>
        <p:spPr>
          <a:xfrm>
            <a:off x="647700" y="2038350"/>
            <a:ext cx="3067050" cy="381000"/>
          </a:xfrm>
          <a:prstGeom prst="rect">
            <a:avLst/>
          </a:prstGeom>
          <a:noFill/>
          <a:ln w="0">
            <a:noFill/>
            <a:prstDash val="solid"/>
          </a:ln>
        </p:spPr>
        <p:txBody>
          <a:bodyPr wrap="square" lIns="0" tIns="0" rIns="0" bIns="0" anchor="t">
            <a:normAutofit/>
          </a:bodyPr>
          <a:lstStyle/>
          <a:p>
            <a:pPr algn="l">
              <a:lnSpc>
                <a:spcPct val="105000"/>
              </a:lnSpc>
              <a:buNone/>
              <a:defRPr sz="2250" b="1" i="0">
                <a:solidFill>
                  <a:srgbClr val="3D8DFF"/>
                </a:solidFill>
                <a:latin typeface="Arial"/>
                <a:ea typeface="Arial"/>
                <a:cs typeface="Arial"/>
              </a:defRPr>
            </a:pPr>
            <a:r>
              <a:rPr sz="2250" b="1" i="0">
                <a:solidFill>
                  <a:srgbClr val="3D8DFF"/>
                </a:solidFill>
                <a:latin typeface="Arial"/>
                <a:ea typeface="Arial"/>
                <a:cs typeface="Arial"/>
              </a:rPr>
              <a:t>Segment rate</a:t>
            </a:r>
          </a:p>
        </p:txBody>
      </p:sp>
      <p:sp>
        <p:nvSpPr>
          <p:cNvPr id="8" name="矩形 7">
            <a:extLst>
              <a:ext uri="{FF2B5EF4-FFF2-40B4-BE49-F238E27FC236}">
                <a16:creationId xmlns:a16="http://schemas.microsoft.com/office/drawing/2014/main" id="{B2486C1B-0D53-4578-A28B-38E35F678791}"/>
              </a:ext>
            </a:extLst>
          </p:cNvPr>
          <p:cNvSpPr>
            <a:spLocks noGrp="1"/>
          </p:cNvSpPr>
          <p:nvPr/>
        </p:nvSpPr>
        <p:spPr>
          <a:xfrm>
            <a:off x="647700" y="2571750"/>
            <a:ext cx="3067050" cy="7239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111827"/>
                </a:solidFill>
                <a:latin typeface="Arial"/>
                <a:ea typeface="Arial"/>
                <a:cs typeface="Arial"/>
              </a:defRPr>
            </a:pPr>
            <a:r>
              <a:rPr sz="1575" b="0" i="0">
                <a:solidFill>
                  <a:srgbClr val="111827"/>
                </a:solidFill>
                <a:latin typeface="Arial"/>
                <a:ea typeface="Arial"/>
                <a:cs typeface="Arial"/>
              </a:rPr>
              <a:t>Late orders divided by eligible orders within each category.</a:t>
            </a:r>
          </a:p>
        </p:txBody>
      </p:sp>
      <p:sp>
        <p:nvSpPr>
          <p:cNvPr id="9" name="矩形 8">
            <a:extLst>
              <a:ext uri="{FF2B5EF4-FFF2-40B4-BE49-F238E27FC236}">
                <a16:creationId xmlns:a16="http://schemas.microsoft.com/office/drawing/2014/main" id="{A34C9C4C-822C-4280-9BC0-8A2DA8215FBA}"/>
              </a:ext>
            </a:extLst>
          </p:cNvPr>
          <p:cNvSpPr>
            <a:spLocks noGrp="1"/>
          </p:cNvSpPr>
          <p:nvPr/>
        </p:nvSpPr>
        <p:spPr>
          <a:xfrm>
            <a:off x="647700" y="4038600"/>
            <a:ext cx="3067050" cy="361950"/>
          </a:xfrm>
          <a:prstGeom prst="rect">
            <a:avLst/>
          </a:prstGeom>
          <a:noFill/>
          <a:ln w="0">
            <a:noFill/>
            <a:prstDash val="solid"/>
          </a:ln>
        </p:spPr>
        <p:txBody>
          <a:bodyPr wrap="square" lIns="0" tIns="0" rIns="0" bIns="0" anchor="t">
            <a:normAutofit/>
          </a:bodyPr>
          <a:lstStyle/>
          <a:p>
            <a:pPr algn="l">
              <a:lnSpc>
                <a:spcPct val="105000"/>
              </a:lnSpc>
              <a:buNone/>
              <a:defRPr sz="1275" b="0" i="1">
                <a:solidFill>
                  <a:srgbClr val="667085"/>
                </a:solidFill>
                <a:latin typeface="Arial"/>
                <a:ea typeface="Arial"/>
                <a:cs typeface="Arial"/>
              </a:defRPr>
            </a:pPr>
            <a:r>
              <a:rPr sz="1275" b="0" i="1">
                <a:solidFill>
                  <a:srgbClr val="667085"/>
                </a:solidFill>
                <a:latin typeface="Arial"/>
                <a:ea typeface="Arial"/>
                <a:cs typeface="Arial"/>
              </a:rPr>
              <a:t>What share was late?</a:t>
            </a:r>
          </a:p>
        </p:txBody>
      </p:sp>
      <p:sp>
        <p:nvSpPr>
          <p:cNvPr id="10" name="矩形: 圆角 9">
            <a:extLst>
              <a:ext uri="{FF2B5EF4-FFF2-40B4-BE49-F238E27FC236}">
                <a16:creationId xmlns:a16="http://schemas.microsoft.com/office/drawing/2014/main" id="{51BCF0AE-230F-4E87-A202-09C22C3C422C}"/>
              </a:ext>
            </a:extLst>
          </p:cNvPr>
          <p:cNvSpPr>
            <a:spLocks noGrp="1"/>
          </p:cNvSpPr>
          <p:nvPr/>
        </p:nvSpPr>
        <p:spPr>
          <a:xfrm>
            <a:off x="4314825" y="1809750"/>
            <a:ext cx="3562350" cy="2819400"/>
          </a:xfrm>
          <a:prstGeom prst="roundRect">
            <a:avLst>
              <a:gd name="adj" fmla="val 4054"/>
            </a:avLst>
          </a:prstGeom>
          <a:solidFill>
            <a:srgbClr val="F2F4F7"/>
          </a:solidFill>
          <a:ln w="0">
            <a:solidFill>
              <a:srgbClr val="F2F4F7"/>
            </a:solidFill>
            <a:prstDash val="solid"/>
          </a:ln>
        </p:spPr>
        <p:txBody>
          <a:bodyPr/>
          <a:lstStyle/>
          <a:p>
            <a:endParaRPr lang="zh-CN" altLang="en-US"/>
          </a:p>
        </p:txBody>
      </p:sp>
      <p:sp>
        <p:nvSpPr>
          <p:cNvPr id="11" name="矩形 10">
            <a:extLst>
              <a:ext uri="{FF2B5EF4-FFF2-40B4-BE49-F238E27FC236}">
                <a16:creationId xmlns:a16="http://schemas.microsoft.com/office/drawing/2014/main" id="{BE7554E7-61F6-4BFD-8626-DFBCFBB568AF}"/>
              </a:ext>
            </a:extLst>
          </p:cNvPr>
          <p:cNvSpPr>
            <a:spLocks noGrp="1"/>
          </p:cNvSpPr>
          <p:nvPr/>
        </p:nvSpPr>
        <p:spPr>
          <a:xfrm>
            <a:off x="4562475" y="2038350"/>
            <a:ext cx="3067050" cy="381000"/>
          </a:xfrm>
          <a:prstGeom prst="rect">
            <a:avLst/>
          </a:prstGeom>
          <a:noFill/>
          <a:ln w="0">
            <a:noFill/>
            <a:prstDash val="solid"/>
          </a:ln>
        </p:spPr>
        <p:txBody>
          <a:bodyPr wrap="square" lIns="0" tIns="0" rIns="0" bIns="0" anchor="t">
            <a:normAutofit/>
          </a:bodyPr>
          <a:lstStyle/>
          <a:p>
            <a:pPr algn="l">
              <a:lnSpc>
                <a:spcPct val="105000"/>
              </a:lnSpc>
              <a:buNone/>
              <a:defRPr sz="2250" b="1" i="0">
                <a:solidFill>
                  <a:srgbClr val="3D8DFF"/>
                </a:solidFill>
                <a:latin typeface="Arial"/>
                <a:ea typeface="Arial"/>
                <a:cs typeface="Arial"/>
              </a:defRPr>
            </a:pPr>
            <a:r>
              <a:rPr sz="2250" b="1" i="0">
                <a:solidFill>
                  <a:srgbClr val="3D8DFF"/>
                </a:solidFill>
                <a:latin typeface="Arial"/>
                <a:ea typeface="Arial"/>
                <a:cs typeface="Arial"/>
              </a:rPr>
              <a:t>Exposure count</a:t>
            </a:r>
          </a:p>
        </p:txBody>
      </p:sp>
      <p:sp>
        <p:nvSpPr>
          <p:cNvPr id="12" name="矩形 11">
            <a:extLst>
              <a:ext uri="{FF2B5EF4-FFF2-40B4-BE49-F238E27FC236}">
                <a16:creationId xmlns:a16="http://schemas.microsoft.com/office/drawing/2014/main" id="{1F5D0CA0-CB88-491F-8ECC-F83EAB37DD64}"/>
              </a:ext>
            </a:extLst>
          </p:cNvPr>
          <p:cNvSpPr>
            <a:spLocks noGrp="1"/>
          </p:cNvSpPr>
          <p:nvPr/>
        </p:nvSpPr>
        <p:spPr>
          <a:xfrm>
            <a:off x="4562475" y="2571750"/>
            <a:ext cx="3067050" cy="7239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111827"/>
                </a:solidFill>
                <a:latin typeface="Arial"/>
                <a:ea typeface="Arial"/>
                <a:cs typeface="Arial"/>
              </a:defRPr>
            </a:pPr>
            <a:r>
              <a:rPr sz="1575" b="0" i="0">
                <a:solidFill>
                  <a:srgbClr val="111827"/>
                </a:solidFill>
                <a:latin typeface="Arial"/>
                <a:ea typeface="Arial"/>
                <a:cs typeface="Arial"/>
              </a:rPr>
              <a:t>Eligible-order count retained beside every percentage.</a:t>
            </a:r>
          </a:p>
        </p:txBody>
      </p:sp>
      <p:sp>
        <p:nvSpPr>
          <p:cNvPr id="13" name="矩形 12">
            <a:extLst>
              <a:ext uri="{FF2B5EF4-FFF2-40B4-BE49-F238E27FC236}">
                <a16:creationId xmlns:a16="http://schemas.microsoft.com/office/drawing/2014/main" id="{14880B02-F599-437C-AE18-7093C7261DB1}"/>
              </a:ext>
            </a:extLst>
          </p:cNvPr>
          <p:cNvSpPr>
            <a:spLocks noGrp="1"/>
          </p:cNvSpPr>
          <p:nvPr/>
        </p:nvSpPr>
        <p:spPr>
          <a:xfrm>
            <a:off x="4562475" y="4038600"/>
            <a:ext cx="3067050" cy="361950"/>
          </a:xfrm>
          <a:prstGeom prst="rect">
            <a:avLst/>
          </a:prstGeom>
          <a:noFill/>
          <a:ln w="0">
            <a:noFill/>
            <a:prstDash val="solid"/>
          </a:ln>
        </p:spPr>
        <p:txBody>
          <a:bodyPr wrap="square" lIns="0" tIns="0" rIns="0" bIns="0" anchor="t">
            <a:normAutofit/>
          </a:bodyPr>
          <a:lstStyle/>
          <a:p>
            <a:pPr algn="l">
              <a:lnSpc>
                <a:spcPct val="105000"/>
              </a:lnSpc>
              <a:buNone/>
              <a:defRPr sz="1275" b="0" i="1">
                <a:solidFill>
                  <a:srgbClr val="667085"/>
                </a:solidFill>
                <a:latin typeface="Arial"/>
                <a:ea typeface="Arial"/>
                <a:cs typeface="Arial"/>
              </a:defRPr>
            </a:pPr>
            <a:r>
              <a:rPr sz="1275" b="0" i="1">
                <a:solidFill>
                  <a:srgbClr val="667085"/>
                </a:solidFill>
                <a:latin typeface="Arial"/>
                <a:ea typeface="Arial"/>
                <a:cs typeface="Arial"/>
              </a:rPr>
              <a:t>How much evidence sits behind the rate?</a:t>
            </a:r>
          </a:p>
        </p:txBody>
      </p:sp>
      <p:sp>
        <p:nvSpPr>
          <p:cNvPr id="14" name="矩形: 圆角 13">
            <a:extLst>
              <a:ext uri="{FF2B5EF4-FFF2-40B4-BE49-F238E27FC236}">
                <a16:creationId xmlns:a16="http://schemas.microsoft.com/office/drawing/2014/main" id="{43B8546D-A940-467D-955C-44E1EC27CB04}"/>
              </a:ext>
            </a:extLst>
          </p:cNvPr>
          <p:cNvSpPr>
            <a:spLocks noGrp="1"/>
          </p:cNvSpPr>
          <p:nvPr/>
        </p:nvSpPr>
        <p:spPr>
          <a:xfrm>
            <a:off x="8229600" y="1809750"/>
            <a:ext cx="3562350" cy="2819400"/>
          </a:xfrm>
          <a:prstGeom prst="roundRect">
            <a:avLst>
              <a:gd name="adj" fmla="val 4054"/>
            </a:avLst>
          </a:prstGeom>
          <a:solidFill>
            <a:srgbClr val="F2F4F7"/>
          </a:solidFill>
          <a:ln w="0">
            <a:solidFill>
              <a:srgbClr val="F2F4F7"/>
            </a:solidFill>
            <a:prstDash val="solid"/>
          </a:ln>
        </p:spPr>
        <p:txBody>
          <a:bodyPr/>
          <a:lstStyle/>
          <a:p>
            <a:endParaRPr lang="zh-CN" altLang="en-US"/>
          </a:p>
        </p:txBody>
      </p:sp>
      <p:sp>
        <p:nvSpPr>
          <p:cNvPr id="15" name="矩形 14">
            <a:extLst>
              <a:ext uri="{FF2B5EF4-FFF2-40B4-BE49-F238E27FC236}">
                <a16:creationId xmlns:a16="http://schemas.microsoft.com/office/drawing/2014/main" id="{5B78C495-6C15-4F09-98B1-3B0D266DDE56}"/>
              </a:ext>
            </a:extLst>
          </p:cNvPr>
          <p:cNvSpPr>
            <a:spLocks noGrp="1"/>
          </p:cNvSpPr>
          <p:nvPr/>
        </p:nvSpPr>
        <p:spPr>
          <a:xfrm>
            <a:off x="8477250" y="2038350"/>
            <a:ext cx="3067050" cy="381000"/>
          </a:xfrm>
          <a:prstGeom prst="rect">
            <a:avLst/>
          </a:prstGeom>
          <a:noFill/>
          <a:ln w="0">
            <a:noFill/>
            <a:prstDash val="solid"/>
          </a:ln>
        </p:spPr>
        <p:txBody>
          <a:bodyPr wrap="square" lIns="0" tIns="0" rIns="0" bIns="0" anchor="t">
            <a:normAutofit/>
          </a:bodyPr>
          <a:lstStyle/>
          <a:p>
            <a:pPr algn="l">
              <a:lnSpc>
                <a:spcPct val="105000"/>
              </a:lnSpc>
              <a:buNone/>
              <a:defRPr sz="2250" b="1" i="0">
                <a:solidFill>
                  <a:srgbClr val="3D8DFF"/>
                </a:solidFill>
                <a:latin typeface="Arial"/>
                <a:ea typeface="Arial"/>
                <a:cs typeface="Arial"/>
              </a:defRPr>
            </a:pPr>
            <a:r>
              <a:rPr sz="2250" b="1" i="0">
                <a:solidFill>
                  <a:srgbClr val="3D8DFF"/>
                </a:solidFill>
                <a:latin typeface="Arial"/>
                <a:ea typeface="Arial"/>
                <a:cs typeface="Arial"/>
              </a:rPr>
              <a:t>Order profile</a:t>
            </a:r>
          </a:p>
        </p:txBody>
      </p:sp>
      <p:sp>
        <p:nvSpPr>
          <p:cNvPr id="16" name="矩形 15">
            <a:extLst>
              <a:ext uri="{FF2B5EF4-FFF2-40B4-BE49-F238E27FC236}">
                <a16:creationId xmlns:a16="http://schemas.microsoft.com/office/drawing/2014/main" id="{B607E45F-78BD-4C7B-BB58-89CEA8FBDADF}"/>
              </a:ext>
            </a:extLst>
          </p:cNvPr>
          <p:cNvSpPr>
            <a:spLocks noGrp="1"/>
          </p:cNvSpPr>
          <p:nvPr/>
        </p:nvSpPr>
        <p:spPr>
          <a:xfrm>
            <a:off x="8477250" y="2571750"/>
            <a:ext cx="3067050" cy="7239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111827"/>
                </a:solidFill>
                <a:latin typeface="Arial"/>
                <a:ea typeface="Arial"/>
                <a:cs typeface="Arial"/>
              </a:defRPr>
            </a:pPr>
            <a:r>
              <a:rPr sz="1575" b="0" i="0">
                <a:solidFill>
                  <a:srgbClr val="111827"/>
                </a:solidFill>
                <a:latin typeface="Arial"/>
                <a:ea typeface="Arial"/>
                <a:cs typeface="Arial"/>
              </a:rPr>
              <a:t>Mean and median item count, quantity, and order value.</a:t>
            </a:r>
          </a:p>
        </p:txBody>
      </p:sp>
      <p:sp>
        <p:nvSpPr>
          <p:cNvPr id="17" name="矩形 16">
            <a:extLst>
              <a:ext uri="{FF2B5EF4-FFF2-40B4-BE49-F238E27FC236}">
                <a16:creationId xmlns:a16="http://schemas.microsoft.com/office/drawing/2014/main" id="{A052E122-AF59-4304-9BA9-60A09ED2580E}"/>
              </a:ext>
            </a:extLst>
          </p:cNvPr>
          <p:cNvSpPr>
            <a:spLocks noGrp="1"/>
          </p:cNvSpPr>
          <p:nvPr/>
        </p:nvSpPr>
        <p:spPr>
          <a:xfrm>
            <a:off x="8477250" y="4038600"/>
            <a:ext cx="3067050" cy="361950"/>
          </a:xfrm>
          <a:prstGeom prst="rect">
            <a:avLst/>
          </a:prstGeom>
          <a:noFill/>
          <a:ln w="0">
            <a:noFill/>
            <a:prstDash val="solid"/>
          </a:ln>
        </p:spPr>
        <p:txBody>
          <a:bodyPr wrap="square" lIns="0" tIns="0" rIns="0" bIns="0" anchor="t">
            <a:normAutofit/>
          </a:bodyPr>
          <a:lstStyle/>
          <a:p>
            <a:pPr algn="l">
              <a:lnSpc>
                <a:spcPct val="105000"/>
              </a:lnSpc>
              <a:buNone/>
              <a:defRPr sz="1275" b="0" i="1">
                <a:solidFill>
                  <a:srgbClr val="667085"/>
                </a:solidFill>
                <a:latin typeface="Arial"/>
                <a:ea typeface="Arial"/>
                <a:cs typeface="Arial"/>
              </a:defRPr>
            </a:pPr>
            <a:r>
              <a:rPr sz="1275" b="0" i="1">
                <a:solidFill>
                  <a:srgbClr val="667085"/>
                </a:solidFill>
                <a:latin typeface="Arial"/>
                <a:ea typeface="Arial"/>
                <a:cs typeface="Arial"/>
              </a:rPr>
              <a:t>Do late and on-time orders look different?</a:t>
            </a:r>
          </a:p>
        </p:txBody>
      </p:sp>
      <p:sp>
        <p:nvSpPr>
          <p:cNvPr id="18" name="矩形: 圆角 17">
            <a:extLst>
              <a:ext uri="{FF2B5EF4-FFF2-40B4-BE49-F238E27FC236}">
                <a16:creationId xmlns:a16="http://schemas.microsoft.com/office/drawing/2014/main" id="{19AE4A13-7578-42BE-AA03-68D7A5B5CC6B}"/>
              </a:ext>
            </a:extLst>
          </p:cNvPr>
          <p:cNvSpPr>
            <a:spLocks noGrp="1"/>
          </p:cNvSpPr>
          <p:nvPr/>
        </p:nvSpPr>
        <p:spPr>
          <a:xfrm>
            <a:off x="400050" y="4972050"/>
            <a:ext cx="11391900" cy="971550"/>
          </a:xfrm>
          <a:prstGeom prst="roundRect">
            <a:avLst>
              <a:gd name="adj" fmla="val 11765"/>
            </a:avLst>
          </a:prstGeom>
          <a:solidFill>
            <a:srgbClr val="FFF7ED"/>
          </a:solidFill>
          <a:ln w="9525">
            <a:solidFill>
              <a:srgbClr val="FED7AA"/>
            </a:solidFill>
            <a:prstDash val="solid"/>
          </a:ln>
        </p:spPr>
        <p:txBody>
          <a:bodyPr/>
          <a:lstStyle/>
          <a:p>
            <a:endParaRPr lang="zh-CN" altLang="en-US"/>
          </a:p>
        </p:txBody>
      </p:sp>
      <p:sp>
        <p:nvSpPr>
          <p:cNvPr id="19" name="矩形 18">
            <a:extLst>
              <a:ext uri="{FF2B5EF4-FFF2-40B4-BE49-F238E27FC236}">
                <a16:creationId xmlns:a16="http://schemas.microsoft.com/office/drawing/2014/main" id="{BD80BBEB-3A27-4D00-8817-D37AAAAB6DE6}"/>
              </a:ext>
            </a:extLst>
          </p:cNvPr>
          <p:cNvSpPr>
            <a:spLocks noGrp="1"/>
          </p:cNvSpPr>
          <p:nvPr/>
        </p:nvSpPr>
        <p:spPr>
          <a:xfrm>
            <a:off x="666750" y="5181600"/>
            <a:ext cx="2476500" cy="304800"/>
          </a:xfrm>
          <a:prstGeom prst="rect">
            <a:avLst/>
          </a:prstGeom>
          <a:noFill/>
          <a:ln w="0">
            <a:noFill/>
            <a:prstDash val="solid"/>
          </a:ln>
        </p:spPr>
        <p:txBody>
          <a:bodyPr wrap="square" lIns="0" tIns="0" rIns="0" bIns="0" anchor="t">
            <a:normAutofit/>
          </a:bodyPr>
          <a:lstStyle/>
          <a:p>
            <a:pPr algn="l">
              <a:lnSpc>
                <a:spcPct val="105000"/>
              </a:lnSpc>
              <a:buNone/>
              <a:defRPr sz="1500" b="1" i="0">
                <a:solidFill>
                  <a:srgbClr val="F97316"/>
                </a:solidFill>
                <a:latin typeface="Arial"/>
                <a:ea typeface="Arial"/>
                <a:cs typeface="Arial"/>
              </a:defRPr>
            </a:pPr>
            <a:r>
              <a:rPr sz="1500" b="1" i="0">
                <a:solidFill>
                  <a:srgbClr val="F97316"/>
                </a:solidFill>
                <a:latin typeface="Arial"/>
                <a:ea typeface="Arial"/>
                <a:cs typeface="Arial"/>
              </a:rPr>
              <a:t>Interpretation boundary</a:t>
            </a:r>
          </a:p>
        </p:txBody>
      </p:sp>
      <p:sp>
        <p:nvSpPr>
          <p:cNvPr id="20" name="矩形 19">
            <a:extLst>
              <a:ext uri="{FF2B5EF4-FFF2-40B4-BE49-F238E27FC236}">
                <a16:creationId xmlns:a16="http://schemas.microsoft.com/office/drawing/2014/main" id="{8A941193-9270-4F8D-8DEB-4843D2B8FE0F}"/>
              </a:ext>
            </a:extLst>
          </p:cNvPr>
          <p:cNvSpPr>
            <a:spLocks noGrp="1"/>
          </p:cNvSpPr>
          <p:nvPr/>
        </p:nvSpPr>
        <p:spPr>
          <a:xfrm>
            <a:off x="3124200" y="5143500"/>
            <a:ext cx="8191500" cy="533400"/>
          </a:xfrm>
          <a:prstGeom prst="rect">
            <a:avLst/>
          </a:prstGeom>
          <a:noFill/>
          <a:ln w="0">
            <a:noFill/>
            <a:prstDash val="solid"/>
          </a:ln>
        </p:spPr>
        <p:txBody>
          <a:bodyPr wrap="square" lIns="0" tIns="0" rIns="0" bIns="0" anchor="ctr">
            <a:normAutofit fontScale="96618"/>
          </a:bodyPr>
          <a:lstStyle/>
          <a:p>
            <a:pPr algn="l">
              <a:lnSpc>
                <a:spcPct val="105000"/>
              </a:lnSpc>
              <a:buNone/>
              <a:defRPr sz="1725" b="0" i="0">
                <a:solidFill>
                  <a:srgbClr val="111827"/>
                </a:solidFill>
                <a:latin typeface="Arial"/>
                <a:ea typeface="Arial"/>
                <a:cs typeface="Arial"/>
              </a:defRPr>
            </a:pPr>
            <a:r>
              <a:rPr sz="1725" b="0" i="0">
                <a:solidFill>
                  <a:srgbClr val="111827"/>
                </a:solidFill>
                <a:latin typeface="Arial"/>
                <a:ea typeface="Arial"/>
                <a:cs typeface="Arial"/>
              </a:rPr>
              <a:t>Observed differences are associations. They identify investigation and prediction signals, not confirmed causes.</a:t>
            </a:r>
          </a:p>
        </p:txBody>
      </p:sp>
    </p:spTree>
    <p:extLst>
      <p:ext uri="{BB962C8B-B14F-4D97-AF65-F5344CB8AC3E}">
        <p14:creationId xmlns:p14="http://schemas.microsoft.com/office/powerpoint/2010/main" val="1430639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88A9E0F9-A08A-470C-9E9D-824321CAF999}"/>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AQ2 - EVIDENCE</a:t>
            </a:r>
          </a:p>
        </p:txBody>
      </p:sp>
      <p:sp>
        <p:nvSpPr>
          <p:cNvPr id="2" name="矩形 1">
            <a:extLst>
              <a:ext uri="{FF2B5EF4-FFF2-40B4-BE49-F238E27FC236}">
                <a16:creationId xmlns:a16="http://schemas.microsoft.com/office/drawing/2014/main" id="{07C023BF-A6AC-4327-AC8F-768ECFF8FA9A}"/>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Shipping Mode shows the clearest association</a:t>
            </a:r>
          </a:p>
        </p:txBody>
      </p:sp>
      <p:sp>
        <p:nvSpPr>
          <p:cNvPr id="3" name="直接连接符 2">
            <a:extLst>
              <a:ext uri="{FF2B5EF4-FFF2-40B4-BE49-F238E27FC236}">
                <a16:creationId xmlns:a16="http://schemas.microsoft.com/office/drawing/2014/main" id="{4A373B22-B16B-4DCC-A099-12FCC3373139}"/>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9CB7CE28-C1DF-46AF-B67D-771E3FA864E6}"/>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D97E3AF4-BBA1-4C64-B576-16AC0F3C9DF4}"/>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7</a:t>
            </a:r>
          </a:p>
        </p:txBody>
      </p:sp>
      <p:sp>
        <p:nvSpPr>
          <p:cNvPr id="6" name="矩形 5">
            <a:extLst>
              <a:ext uri="{FF2B5EF4-FFF2-40B4-BE49-F238E27FC236}">
                <a16:creationId xmlns:a16="http://schemas.microsoft.com/office/drawing/2014/main" id="{AFF3F254-40E8-4CBF-BA66-088098B479EB}"/>
              </a:ext>
            </a:extLst>
          </p:cNvPr>
          <p:cNvSpPr>
            <a:spLocks noGrp="1"/>
          </p:cNvSpPr>
          <p:nvPr/>
        </p:nvSpPr>
        <p:spPr>
          <a:xfrm>
            <a:off x="400050" y="1428750"/>
            <a:ext cx="4953000" cy="2667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667085"/>
                </a:solidFill>
                <a:latin typeface="Arial"/>
                <a:ea typeface="Arial"/>
                <a:cs typeface="Arial"/>
              </a:defRPr>
            </a:pPr>
            <a:r>
              <a:rPr sz="1350" b="1" i="0">
                <a:solidFill>
                  <a:srgbClr val="667085"/>
                </a:solidFill>
                <a:latin typeface="Arial"/>
                <a:ea typeface="Arial"/>
                <a:cs typeface="Arial"/>
              </a:rPr>
              <a:t>Historical late-delivery rate by Shipping Mode</a:t>
            </a:r>
          </a:p>
        </p:txBody>
      </p:sp>
      <p:graphicFrame>
        <p:nvGraphicFramePr>
          <p:cNvPr id="23" name="Chart"/>
          <p:cNvGraphicFramePr/>
          <p:nvPr>
            <p:extLst>
              <p:ext uri="{D42A27DB-BD31-4B8C-83A1-F6EECF244321}">
                <p14:modId xmlns:p14="http://schemas.microsoft.com/office/powerpoint/2010/main" val="897311678"/>
              </p:ext>
            </p:extLst>
          </p:nvPr>
        </p:nvGraphicFramePr>
        <p:xfrm>
          <a:off x="310662" y="1695450"/>
          <a:ext cx="7290288" cy="4343399"/>
        </p:xfrm>
        <a:graphic>
          <a:graphicData uri="http://schemas.openxmlformats.org/drawingml/2006/chart">
            <c:chart xmlns:c="http://schemas.openxmlformats.org/drawingml/2006/chart" xmlns:r="http://schemas.openxmlformats.org/officeDocument/2006/relationships" r:id="rId3"/>
          </a:graphicData>
        </a:graphic>
      </p:graphicFrame>
      <p:sp>
        <p:nvSpPr>
          <p:cNvPr id="8" name="矩形: 圆角 7">
            <a:extLst>
              <a:ext uri="{FF2B5EF4-FFF2-40B4-BE49-F238E27FC236}">
                <a16:creationId xmlns:a16="http://schemas.microsoft.com/office/drawing/2014/main" id="{11FF4AA0-70BA-4163-BAC6-AE84B370FC21}"/>
              </a:ext>
            </a:extLst>
          </p:cNvPr>
          <p:cNvSpPr>
            <a:spLocks noGrp="1"/>
          </p:cNvSpPr>
          <p:nvPr/>
        </p:nvSpPr>
        <p:spPr>
          <a:xfrm>
            <a:off x="7715250" y="1657350"/>
            <a:ext cx="3695700" cy="1257300"/>
          </a:xfrm>
          <a:prstGeom prst="roundRect">
            <a:avLst>
              <a:gd name="adj" fmla="val 9091"/>
            </a:avLst>
          </a:prstGeom>
          <a:solidFill>
            <a:srgbClr val="F2F4F7"/>
          </a:solidFill>
          <a:ln w="0">
            <a:solidFill>
              <a:srgbClr val="F2F4F7"/>
            </a:solidFill>
            <a:prstDash val="solid"/>
          </a:ln>
        </p:spPr>
        <p:txBody>
          <a:bodyPr/>
          <a:lstStyle/>
          <a:p>
            <a:endParaRPr lang="zh-CN" altLang="en-US"/>
          </a:p>
        </p:txBody>
      </p:sp>
      <p:sp>
        <p:nvSpPr>
          <p:cNvPr id="9" name="矩形 8">
            <a:extLst>
              <a:ext uri="{FF2B5EF4-FFF2-40B4-BE49-F238E27FC236}">
                <a16:creationId xmlns:a16="http://schemas.microsoft.com/office/drawing/2014/main" id="{013893D9-0824-4703-9E4E-3161D0D4C605}"/>
              </a:ext>
            </a:extLst>
          </p:cNvPr>
          <p:cNvSpPr>
            <a:spLocks noGrp="1"/>
          </p:cNvSpPr>
          <p:nvPr/>
        </p:nvSpPr>
        <p:spPr>
          <a:xfrm>
            <a:off x="7924800" y="1828800"/>
            <a:ext cx="3276600" cy="476250"/>
          </a:xfrm>
          <a:prstGeom prst="rect">
            <a:avLst/>
          </a:prstGeom>
          <a:noFill/>
          <a:ln w="0">
            <a:noFill/>
            <a:prstDash val="solid"/>
          </a:ln>
        </p:spPr>
        <p:txBody>
          <a:bodyPr wrap="square" lIns="0" tIns="0" rIns="0" bIns="0" anchor="b">
            <a:normAutofit/>
          </a:bodyPr>
          <a:lstStyle/>
          <a:p>
            <a:pPr algn="l">
              <a:lnSpc>
                <a:spcPct val="105000"/>
              </a:lnSpc>
              <a:buNone/>
              <a:defRPr sz="2850" b="1" i="0">
                <a:solidFill>
                  <a:srgbClr val="3D8DFF"/>
                </a:solidFill>
                <a:latin typeface="Arial"/>
                <a:ea typeface="Arial"/>
                <a:cs typeface="Arial"/>
              </a:defRPr>
            </a:pPr>
            <a:r>
              <a:rPr sz="2850" b="1" i="0">
                <a:solidFill>
                  <a:srgbClr val="3D8DFF"/>
                </a:solidFill>
                <a:latin typeface="Arial"/>
                <a:ea typeface="Arial"/>
                <a:cs typeface="Arial"/>
              </a:rPr>
              <a:t>60.15 pp</a:t>
            </a:r>
          </a:p>
        </p:txBody>
      </p:sp>
      <p:sp>
        <p:nvSpPr>
          <p:cNvPr id="10" name="矩形 9">
            <a:extLst>
              <a:ext uri="{FF2B5EF4-FFF2-40B4-BE49-F238E27FC236}">
                <a16:creationId xmlns:a16="http://schemas.microsoft.com/office/drawing/2014/main" id="{9660E449-0363-4206-B59A-B93319BCE575}"/>
              </a:ext>
            </a:extLst>
          </p:cNvPr>
          <p:cNvSpPr>
            <a:spLocks noGrp="1"/>
          </p:cNvSpPr>
          <p:nvPr/>
        </p:nvSpPr>
        <p:spPr>
          <a:xfrm>
            <a:off x="7924800" y="2400300"/>
            <a:ext cx="3276600" cy="361950"/>
          </a:xfrm>
          <a:prstGeom prst="rect">
            <a:avLst/>
          </a:prstGeom>
          <a:noFill/>
          <a:ln w="0">
            <a:noFill/>
            <a:prstDash val="solid"/>
          </a:ln>
        </p:spPr>
        <p:txBody>
          <a:bodyPr wrap="square" lIns="0" tIns="0" rIns="0" bIns="0" anchor="t">
            <a:normAutofit fontScale="88075"/>
          </a:bodyPr>
          <a:lstStyle/>
          <a:p>
            <a:pPr algn="l">
              <a:lnSpc>
                <a:spcPct val="110000"/>
              </a:lnSpc>
              <a:buNone/>
              <a:defRPr sz="1350" b="0" i="0">
                <a:solidFill>
                  <a:srgbClr val="111827"/>
                </a:solidFill>
                <a:latin typeface="Arial"/>
                <a:ea typeface="Arial"/>
                <a:cs typeface="Arial"/>
              </a:defRPr>
            </a:pPr>
            <a:r>
              <a:rPr sz="1350" b="0" i="0">
                <a:solidFill>
                  <a:srgbClr val="111827"/>
                </a:solidFill>
                <a:latin typeface="Arial"/>
                <a:ea typeface="Arial"/>
                <a:cs typeface="Arial"/>
              </a:rPr>
              <a:t>Gap between First Class and Standard Class</a:t>
            </a:r>
          </a:p>
        </p:txBody>
      </p:sp>
      <p:sp>
        <p:nvSpPr>
          <p:cNvPr id="11" name="矩形: 圆角 10">
            <a:extLst>
              <a:ext uri="{FF2B5EF4-FFF2-40B4-BE49-F238E27FC236}">
                <a16:creationId xmlns:a16="http://schemas.microsoft.com/office/drawing/2014/main" id="{6DFD8D54-44DA-4CDA-99FF-12091F70CD91}"/>
              </a:ext>
            </a:extLst>
          </p:cNvPr>
          <p:cNvSpPr>
            <a:spLocks noGrp="1"/>
          </p:cNvSpPr>
          <p:nvPr/>
        </p:nvSpPr>
        <p:spPr>
          <a:xfrm>
            <a:off x="7715250" y="3143250"/>
            <a:ext cx="3695700" cy="1257300"/>
          </a:xfrm>
          <a:prstGeom prst="roundRect">
            <a:avLst>
              <a:gd name="adj" fmla="val 9091"/>
            </a:avLst>
          </a:prstGeom>
          <a:solidFill>
            <a:srgbClr val="F2F4F7"/>
          </a:solidFill>
          <a:ln w="0">
            <a:solidFill>
              <a:srgbClr val="F2F4F7"/>
            </a:solidFill>
            <a:prstDash val="solid"/>
          </a:ln>
        </p:spPr>
        <p:txBody>
          <a:bodyPr/>
          <a:lstStyle/>
          <a:p>
            <a:endParaRPr lang="zh-CN" altLang="en-US"/>
          </a:p>
        </p:txBody>
      </p:sp>
      <p:sp>
        <p:nvSpPr>
          <p:cNvPr id="12" name="矩形 11">
            <a:extLst>
              <a:ext uri="{FF2B5EF4-FFF2-40B4-BE49-F238E27FC236}">
                <a16:creationId xmlns:a16="http://schemas.microsoft.com/office/drawing/2014/main" id="{C1B1710C-D049-495B-BD45-9552FA891CCA}"/>
              </a:ext>
            </a:extLst>
          </p:cNvPr>
          <p:cNvSpPr>
            <a:spLocks noGrp="1"/>
          </p:cNvSpPr>
          <p:nvPr/>
        </p:nvSpPr>
        <p:spPr>
          <a:xfrm>
            <a:off x="7924800" y="3314700"/>
            <a:ext cx="3276600" cy="476250"/>
          </a:xfrm>
          <a:prstGeom prst="rect">
            <a:avLst/>
          </a:prstGeom>
          <a:noFill/>
          <a:ln w="0">
            <a:noFill/>
            <a:prstDash val="solid"/>
          </a:ln>
        </p:spPr>
        <p:txBody>
          <a:bodyPr wrap="square" lIns="0" tIns="0" rIns="0" bIns="0" anchor="b">
            <a:normAutofit/>
          </a:bodyPr>
          <a:lstStyle/>
          <a:p>
            <a:pPr algn="l">
              <a:lnSpc>
                <a:spcPct val="105000"/>
              </a:lnSpc>
              <a:buNone/>
              <a:defRPr sz="2850" b="1" i="0">
                <a:solidFill>
                  <a:srgbClr val="667085"/>
                </a:solidFill>
                <a:latin typeface="Arial"/>
                <a:ea typeface="Arial"/>
                <a:cs typeface="Arial"/>
              </a:defRPr>
            </a:pPr>
            <a:r>
              <a:rPr sz="2850" b="1" i="0">
                <a:solidFill>
                  <a:srgbClr val="667085"/>
                </a:solidFill>
                <a:latin typeface="Arial"/>
                <a:ea typeface="Arial"/>
                <a:cs typeface="Arial"/>
              </a:rPr>
              <a:t>&lt;= 1.19 pp</a:t>
            </a:r>
          </a:p>
        </p:txBody>
      </p:sp>
      <p:sp>
        <p:nvSpPr>
          <p:cNvPr id="13" name="矩形 12">
            <a:extLst>
              <a:ext uri="{FF2B5EF4-FFF2-40B4-BE49-F238E27FC236}">
                <a16:creationId xmlns:a16="http://schemas.microsoft.com/office/drawing/2014/main" id="{85AD8F84-FA3F-4FC3-AB1A-A91E884FD3CA}"/>
              </a:ext>
            </a:extLst>
          </p:cNvPr>
          <p:cNvSpPr>
            <a:spLocks noGrp="1"/>
          </p:cNvSpPr>
          <p:nvPr/>
        </p:nvSpPr>
        <p:spPr>
          <a:xfrm>
            <a:off x="7924800" y="3886200"/>
            <a:ext cx="3276600" cy="361950"/>
          </a:xfrm>
          <a:prstGeom prst="rect">
            <a:avLst/>
          </a:prstGeom>
          <a:noFill/>
          <a:ln w="0">
            <a:noFill/>
            <a:prstDash val="solid"/>
          </a:ln>
        </p:spPr>
        <p:txBody>
          <a:bodyPr wrap="square" lIns="0" tIns="0" rIns="0" bIns="0" anchor="t">
            <a:normAutofit fontScale="92447"/>
          </a:bodyPr>
          <a:lstStyle/>
          <a:p>
            <a:pPr algn="l">
              <a:lnSpc>
                <a:spcPct val="110000"/>
              </a:lnSpc>
              <a:buNone/>
              <a:defRPr sz="1350" b="0" i="0">
                <a:solidFill>
                  <a:srgbClr val="111827"/>
                </a:solidFill>
                <a:latin typeface="Arial"/>
                <a:ea typeface="Arial"/>
                <a:cs typeface="Arial"/>
              </a:defRPr>
            </a:pPr>
            <a:r>
              <a:rPr sz="1350" b="0" i="0">
                <a:solidFill>
                  <a:srgbClr val="111827"/>
                </a:solidFill>
                <a:latin typeface="Arial"/>
                <a:ea typeface="Arial"/>
                <a:cs typeface="Arial"/>
              </a:rPr>
              <a:t>Spread across Customer Segment and Market</a:t>
            </a:r>
          </a:p>
        </p:txBody>
      </p:sp>
      <p:sp>
        <p:nvSpPr>
          <p:cNvPr id="14" name="矩形: 圆角 13">
            <a:extLst>
              <a:ext uri="{FF2B5EF4-FFF2-40B4-BE49-F238E27FC236}">
                <a16:creationId xmlns:a16="http://schemas.microsoft.com/office/drawing/2014/main" id="{37586EF7-1677-444A-8231-4B4C00504207}"/>
              </a:ext>
            </a:extLst>
          </p:cNvPr>
          <p:cNvSpPr>
            <a:spLocks noGrp="1"/>
          </p:cNvSpPr>
          <p:nvPr/>
        </p:nvSpPr>
        <p:spPr>
          <a:xfrm>
            <a:off x="7715250" y="4629150"/>
            <a:ext cx="3695700" cy="1409700"/>
          </a:xfrm>
          <a:prstGeom prst="roundRect">
            <a:avLst>
              <a:gd name="adj" fmla="val 8108"/>
            </a:avLst>
          </a:prstGeom>
          <a:solidFill>
            <a:srgbClr val="EFF8FF"/>
          </a:solidFill>
          <a:ln w="0">
            <a:solidFill>
              <a:srgbClr val="F2F4F7"/>
            </a:solidFill>
            <a:prstDash val="solid"/>
          </a:ln>
        </p:spPr>
        <p:txBody>
          <a:bodyPr/>
          <a:lstStyle/>
          <a:p>
            <a:endParaRPr lang="zh-CN" altLang="en-US"/>
          </a:p>
        </p:txBody>
      </p:sp>
      <p:sp>
        <p:nvSpPr>
          <p:cNvPr id="15" name="矩形 14">
            <a:extLst>
              <a:ext uri="{FF2B5EF4-FFF2-40B4-BE49-F238E27FC236}">
                <a16:creationId xmlns:a16="http://schemas.microsoft.com/office/drawing/2014/main" id="{173B449E-04E4-45E5-875B-E705F3749ABB}"/>
              </a:ext>
            </a:extLst>
          </p:cNvPr>
          <p:cNvSpPr>
            <a:spLocks noGrp="1"/>
          </p:cNvSpPr>
          <p:nvPr/>
        </p:nvSpPr>
        <p:spPr>
          <a:xfrm>
            <a:off x="7943850" y="4838700"/>
            <a:ext cx="3143250" cy="2857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3D8DFF"/>
                </a:solidFill>
                <a:latin typeface="Arial"/>
                <a:ea typeface="Arial"/>
                <a:cs typeface="Arial"/>
              </a:defRPr>
            </a:pPr>
            <a:r>
              <a:rPr sz="1425" b="1" i="0">
                <a:solidFill>
                  <a:srgbClr val="3D8DFF"/>
                </a:solidFill>
                <a:latin typeface="Arial"/>
                <a:ea typeface="Arial"/>
                <a:cs typeface="Arial"/>
              </a:rPr>
              <a:t>Business meaning</a:t>
            </a:r>
          </a:p>
        </p:txBody>
      </p:sp>
      <p:sp>
        <p:nvSpPr>
          <p:cNvPr id="16" name="矩形 15">
            <a:extLst>
              <a:ext uri="{FF2B5EF4-FFF2-40B4-BE49-F238E27FC236}">
                <a16:creationId xmlns:a16="http://schemas.microsoft.com/office/drawing/2014/main" id="{A587341C-933B-4721-92DA-2E752DB6D697}"/>
              </a:ext>
            </a:extLst>
          </p:cNvPr>
          <p:cNvSpPr>
            <a:spLocks noGrp="1"/>
          </p:cNvSpPr>
          <p:nvPr/>
        </p:nvSpPr>
        <p:spPr>
          <a:xfrm>
            <a:off x="7943850" y="5219700"/>
            <a:ext cx="3162300" cy="666750"/>
          </a:xfrm>
          <a:prstGeom prst="rect">
            <a:avLst/>
          </a:prstGeom>
          <a:noFill/>
          <a:ln w="0">
            <a:noFill/>
            <a:prstDash val="solid"/>
          </a:ln>
        </p:spPr>
        <p:txBody>
          <a:bodyPr wrap="square" lIns="0" tIns="0" rIns="0" bIns="0" anchor="t">
            <a:normAutofit fontScale="90172" lnSpcReduction="10000"/>
          </a:bodyPr>
          <a:lstStyle/>
          <a:p>
            <a:pPr algn="l">
              <a:lnSpc>
                <a:spcPct val="112000"/>
              </a:lnSpc>
              <a:buNone/>
              <a:defRPr sz="1575" b="0" i="0">
                <a:solidFill>
                  <a:srgbClr val="111827"/>
                </a:solidFill>
                <a:latin typeface="Arial"/>
                <a:ea typeface="Arial"/>
                <a:cs typeface="Arial"/>
              </a:defRPr>
            </a:pPr>
            <a:r>
              <a:rPr sz="1575" b="0" i="0">
                <a:solidFill>
                  <a:srgbClr val="111827"/>
                </a:solidFill>
                <a:latin typeface="Arial"/>
                <a:ea typeface="Arial"/>
                <a:cs typeface="Arial"/>
              </a:rPr>
              <a:t>Investigate Shipping Mode and retain it as a ranking signal, without claiming causation.</a:t>
            </a:r>
          </a:p>
        </p:txBody>
      </p:sp>
    </p:spTree>
    <p:extLst>
      <p:ext uri="{BB962C8B-B14F-4D97-AF65-F5344CB8AC3E}">
        <p14:creationId xmlns:p14="http://schemas.microsoft.com/office/powerpoint/2010/main" val="199451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E35684CF-7133-426E-B543-23CB7FEB5E39}"/>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AQ3 - MEASURE</a:t>
            </a:r>
          </a:p>
        </p:txBody>
      </p:sp>
      <p:sp>
        <p:nvSpPr>
          <p:cNvPr id="2" name="矩形 1">
            <a:extLst>
              <a:ext uri="{FF2B5EF4-FFF2-40B4-BE49-F238E27FC236}">
                <a16:creationId xmlns:a16="http://schemas.microsoft.com/office/drawing/2014/main" id="{1E2F51AC-EA67-4078-B232-6D69DECF7F55}"/>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AQ3 tests ranking against a no-skill baseline</a:t>
            </a:r>
          </a:p>
        </p:txBody>
      </p:sp>
      <p:sp>
        <p:nvSpPr>
          <p:cNvPr id="3" name="直接连接符 2">
            <a:extLst>
              <a:ext uri="{FF2B5EF4-FFF2-40B4-BE49-F238E27FC236}">
                <a16:creationId xmlns:a16="http://schemas.microsoft.com/office/drawing/2014/main" id="{F21A2C9C-AD65-430E-B3B4-89D89686BA03}"/>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6B5C2D4D-78B8-49AF-90E3-59440EF187EE}"/>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4C8AE58C-DE6D-4619-BBB5-29BB9A567658}"/>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8</a:t>
            </a:r>
          </a:p>
        </p:txBody>
      </p:sp>
      <p:sp>
        <p:nvSpPr>
          <p:cNvPr id="6" name="矩形 5">
            <a:extLst>
              <a:ext uri="{FF2B5EF4-FFF2-40B4-BE49-F238E27FC236}">
                <a16:creationId xmlns:a16="http://schemas.microsoft.com/office/drawing/2014/main" id="{0CA4C71A-2D00-43F0-8F19-109E2C3FD8B8}"/>
              </a:ext>
            </a:extLst>
          </p:cNvPr>
          <p:cNvSpPr>
            <a:spLocks noGrp="1"/>
          </p:cNvSpPr>
          <p:nvPr/>
        </p:nvSpPr>
        <p:spPr>
          <a:xfrm>
            <a:off x="400050" y="1466850"/>
            <a:ext cx="10668000" cy="381000"/>
          </a:xfrm>
          <a:prstGeom prst="rect">
            <a:avLst/>
          </a:prstGeom>
          <a:noFill/>
          <a:ln w="0">
            <a:noFill/>
            <a:prstDash val="solid"/>
          </a:ln>
        </p:spPr>
        <p:txBody>
          <a:bodyPr wrap="square" lIns="0" tIns="0" rIns="0" bIns="0" anchor="t">
            <a:normAutofit/>
          </a:bodyPr>
          <a:lstStyle/>
          <a:p>
            <a:pPr algn="l">
              <a:lnSpc>
                <a:spcPct val="105000"/>
              </a:lnSpc>
              <a:buNone/>
              <a:defRPr sz="1725" b="0" i="0">
                <a:solidFill>
                  <a:srgbClr val="667085"/>
                </a:solidFill>
                <a:latin typeface="Arial"/>
                <a:ea typeface="Arial"/>
                <a:cs typeface="Arial"/>
              </a:defRPr>
            </a:pPr>
            <a:r>
              <a:rPr sz="1725" b="0" i="0">
                <a:solidFill>
                  <a:srgbClr val="667085"/>
                </a:solidFill>
                <a:latin typeface="Arial"/>
                <a:ea typeface="Arial"/>
                <a:cs typeface="Arial"/>
              </a:rPr>
              <a:t>Held-out evaluation: 13,525 held-out orders | Earlier 80% of complete weeks used for training</a:t>
            </a:r>
          </a:p>
        </p:txBody>
      </p:sp>
      <p:sp>
        <p:nvSpPr>
          <p:cNvPr id="7" name="矩形: 圆角 6">
            <a:extLst>
              <a:ext uri="{FF2B5EF4-FFF2-40B4-BE49-F238E27FC236}">
                <a16:creationId xmlns:a16="http://schemas.microsoft.com/office/drawing/2014/main" id="{B252F85E-0B8E-431F-BBB9-01E17E5B7B3B}"/>
              </a:ext>
            </a:extLst>
          </p:cNvPr>
          <p:cNvSpPr>
            <a:spLocks noGrp="1"/>
          </p:cNvSpPr>
          <p:nvPr/>
        </p:nvSpPr>
        <p:spPr>
          <a:xfrm>
            <a:off x="400050" y="2190750"/>
            <a:ext cx="3562350" cy="3390900"/>
          </a:xfrm>
          <a:prstGeom prst="roundRect">
            <a:avLst>
              <a:gd name="adj" fmla="val 3371"/>
            </a:avLst>
          </a:prstGeom>
          <a:solidFill>
            <a:srgbClr val="F2F4F7"/>
          </a:solidFill>
          <a:ln w="0">
            <a:solidFill>
              <a:srgbClr val="F2F4F7"/>
            </a:solidFill>
            <a:prstDash val="solid"/>
          </a:ln>
        </p:spPr>
        <p:txBody>
          <a:bodyPr/>
          <a:lstStyle/>
          <a:p>
            <a:endParaRPr lang="zh-CN" altLang="en-US"/>
          </a:p>
        </p:txBody>
      </p:sp>
      <p:sp>
        <p:nvSpPr>
          <p:cNvPr id="8" name="矩形 7">
            <a:extLst>
              <a:ext uri="{FF2B5EF4-FFF2-40B4-BE49-F238E27FC236}">
                <a16:creationId xmlns:a16="http://schemas.microsoft.com/office/drawing/2014/main" id="{FA5E4573-BB1F-470D-B358-36F0D6501ABB}"/>
              </a:ext>
            </a:extLst>
          </p:cNvPr>
          <p:cNvSpPr>
            <a:spLocks noGrp="1"/>
          </p:cNvSpPr>
          <p:nvPr/>
        </p:nvSpPr>
        <p:spPr>
          <a:xfrm>
            <a:off x="666750" y="2476500"/>
            <a:ext cx="3028950" cy="704850"/>
          </a:xfrm>
          <a:prstGeom prst="rect">
            <a:avLst/>
          </a:prstGeom>
          <a:noFill/>
          <a:ln w="0">
            <a:noFill/>
            <a:prstDash val="solid"/>
          </a:ln>
        </p:spPr>
        <p:txBody>
          <a:bodyPr wrap="square" lIns="0" tIns="0" rIns="0" bIns="0" anchor="b">
            <a:normAutofit/>
          </a:bodyPr>
          <a:lstStyle/>
          <a:p>
            <a:pPr algn="l">
              <a:lnSpc>
                <a:spcPct val="105000"/>
              </a:lnSpc>
              <a:buNone/>
              <a:defRPr sz="3900" b="1" i="0">
                <a:solidFill>
                  <a:srgbClr val="3D8DFF"/>
                </a:solidFill>
                <a:latin typeface="Arial"/>
                <a:ea typeface="Arial"/>
                <a:cs typeface="Arial"/>
              </a:defRPr>
            </a:pPr>
            <a:r>
              <a:rPr sz="3900" b="1" i="0">
                <a:solidFill>
                  <a:srgbClr val="3D8DFF"/>
                </a:solidFill>
                <a:latin typeface="Arial"/>
                <a:ea typeface="Arial"/>
                <a:cs typeface="Arial"/>
              </a:rPr>
              <a:t>AP</a:t>
            </a:r>
          </a:p>
        </p:txBody>
      </p:sp>
      <p:sp>
        <p:nvSpPr>
          <p:cNvPr id="9" name="矩形 8">
            <a:extLst>
              <a:ext uri="{FF2B5EF4-FFF2-40B4-BE49-F238E27FC236}">
                <a16:creationId xmlns:a16="http://schemas.microsoft.com/office/drawing/2014/main" id="{AF17CA65-98A8-4058-A369-05A3E10CF834}"/>
              </a:ext>
            </a:extLst>
          </p:cNvPr>
          <p:cNvSpPr>
            <a:spLocks noGrp="1"/>
          </p:cNvSpPr>
          <p:nvPr/>
        </p:nvSpPr>
        <p:spPr>
          <a:xfrm>
            <a:off x="666750" y="3333750"/>
            <a:ext cx="3028950" cy="381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Average Precision</a:t>
            </a:r>
          </a:p>
        </p:txBody>
      </p:sp>
      <p:sp>
        <p:nvSpPr>
          <p:cNvPr id="10" name="矩形 9">
            <a:extLst>
              <a:ext uri="{FF2B5EF4-FFF2-40B4-BE49-F238E27FC236}">
                <a16:creationId xmlns:a16="http://schemas.microsoft.com/office/drawing/2014/main" id="{BF88B7DB-C2E5-47C2-9D3F-41810B558848}"/>
              </a:ext>
            </a:extLst>
          </p:cNvPr>
          <p:cNvSpPr>
            <a:spLocks noGrp="1"/>
          </p:cNvSpPr>
          <p:nvPr/>
        </p:nvSpPr>
        <p:spPr>
          <a:xfrm>
            <a:off x="666750" y="3848100"/>
            <a:ext cx="3028950" cy="146685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667085"/>
                </a:solidFill>
                <a:latin typeface="Arial"/>
                <a:ea typeface="Arial"/>
                <a:cs typeface="Arial"/>
              </a:defRPr>
            </a:pPr>
            <a:r>
              <a:rPr sz="1425" b="0" i="0">
                <a:solidFill>
                  <a:srgbClr val="667085"/>
                </a:solidFill>
                <a:latin typeface="Arial"/>
                <a:ea typeface="Arial"/>
                <a:cs typeface="Arial"/>
              </a:rPr>
              <a:t>How consistently does the risk ranking retain precision as more late orders are captured?</a:t>
            </a:r>
          </a:p>
        </p:txBody>
      </p:sp>
      <p:sp>
        <p:nvSpPr>
          <p:cNvPr id="11" name="矩形: 圆角 10">
            <a:extLst>
              <a:ext uri="{FF2B5EF4-FFF2-40B4-BE49-F238E27FC236}">
                <a16:creationId xmlns:a16="http://schemas.microsoft.com/office/drawing/2014/main" id="{0CC6004B-D7AD-47A2-B5EE-579B8A49D920}"/>
              </a:ext>
            </a:extLst>
          </p:cNvPr>
          <p:cNvSpPr>
            <a:spLocks noGrp="1"/>
          </p:cNvSpPr>
          <p:nvPr/>
        </p:nvSpPr>
        <p:spPr>
          <a:xfrm>
            <a:off x="4314825" y="2190750"/>
            <a:ext cx="3562350" cy="3390900"/>
          </a:xfrm>
          <a:prstGeom prst="roundRect">
            <a:avLst>
              <a:gd name="adj" fmla="val 3371"/>
            </a:avLst>
          </a:prstGeom>
          <a:solidFill>
            <a:srgbClr val="F2F4F7"/>
          </a:solidFill>
          <a:ln w="0">
            <a:solidFill>
              <a:srgbClr val="F2F4F7"/>
            </a:solidFill>
            <a:prstDash val="solid"/>
          </a:ln>
        </p:spPr>
        <p:txBody>
          <a:bodyPr/>
          <a:lstStyle/>
          <a:p>
            <a:endParaRPr lang="zh-CN" altLang="en-US"/>
          </a:p>
        </p:txBody>
      </p:sp>
      <p:sp>
        <p:nvSpPr>
          <p:cNvPr id="12" name="矩形 11">
            <a:extLst>
              <a:ext uri="{FF2B5EF4-FFF2-40B4-BE49-F238E27FC236}">
                <a16:creationId xmlns:a16="http://schemas.microsoft.com/office/drawing/2014/main" id="{B3AFB168-E9D6-4650-8BF1-BE4D3E8B325D}"/>
              </a:ext>
            </a:extLst>
          </p:cNvPr>
          <p:cNvSpPr>
            <a:spLocks noGrp="1"/>
          </p:cNvSpPr>
          <p:nvPr/>
        </p:nvSpPr>
        <p:spPr>
          <a:xfrm>
            <a:off x="4581525" y="2476500"/>
            <a:ext cx="3028950" cy="704850"/>
          </a:xfrm>
          <a:prstGeom prst="rect">
            <a:avLst/>
          </a:prstGeom>
          <a:noFill/>
          <a:ln w="0">
            <a:noFill/>
            <a:prstDash val="solid"/>
          </a:ln>
        </p:spPr>
        <p:txBody>
          <a:bodyPr wrap="square" lIns="0" tIns="0" rIns="0" bIns="0" anchor="b">
            <a:normAutofit/>
          </a:bodyPr>
          <a:lstStyle/>
          <a:p>
            <a:pPr algn="l">
              <a:lnSpc>
                <a:spcPct val="105000"/>
              </a:lnSpc>
              <a:buNone/>
              <a:defRPr sz="3900" b="1" i="0">
                <a:solidFill>
                  <a:srgbClr val="3D8DFF"/>
                </a:solidFill>
                <a:latin typeface="Arial"/>
                <a:ea typeface="Arial"/>
                <a:cs typeface="Arial"/>
              </a:defRPr>
            </a:pPr>
            <a:r>
              <a:rPr sz="3900" b="1" i="0">
                <a:solidFill>
                  <a:srgbClr val="3D8DFF"/>
                </a:solidFill>
                <a:latin typeface="Arial"/>
                <a:ea typeface="Arial"/>
                <a:cs typeface="Arial"/>
              </a:rPr>
              <a:t>ROC-AUC</a:t>
            </a:r>
          </a:p>
        </p:txBody>
      </p:sp>
      <p:sp>
        <p:nvSpPr>
          <p:cNvPr id="13" name="矩形 12">
            <a:extLst>
              <a:ext uri="{FF2B5EF4-FFF2-40B4-BE49-F238E27FC236}">
                <a16:creationId xmlns:a16="http://schemas.microsoft.com/office/drawing/2014/main" id="{9DB797A3-CE0A-4F33-B38F-276E7C18283B}"/>
              </a:ext>
            </a:extLst>
          </p:cNvPr>
          <p:cNvSpPr>
            <a:spLocks noGrp="1"/>
          </p:cNvSpPr>
          <p:nvPr/>
        </p:nvSpPr>
        <p:spPr>
          <a:xfrm>
            <a:off x="4581525" y="3333750"/>
            <a:ext cx="3028950" cy="381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Ranking ability</a:t>
            </a:r>
          </a:p>
        </p:txBody>
      </p:sp>
      <p:sp>
        <p:nvSpPr>
          <p:cNvPr id="14" name="矩形 13">
            <a:extLst>
              <a:ext uri="{FF2B5EF4-FFF2-40B4-BE49-F238E27FC236}">
                <a16:creationId xmlns:a16="http://schemas.microsoft.com/office/drawing/2014/main" id="{DC188AFC-DEC8-4973-B6BE-5965FCB2B25B}"/>
              </a:ext>
            </a:extLst>
          </p:cNvPr>
          <p:cNvSpPr>
            <a:spLocks noGrp="1"/>
          </p:cNvSpPr>
          <p:nvPr/>
        </p:nvSpPr>
        <p:spPr>
          <a:xfrm>
            <a:off x="4581525" y="3848100"/>
            <a:ext cx="3028950" cy="146685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667085"/>
                </a:solidFill>
                <a:latin typeface="Arial"/>
                <a:ea typeface="Arial"/>
                <a:cs typeface="Arial"/>
              </a:defRPr>
            </a:pPr>
            <a:r>
              <a:rPr sz="1425" b="0" i="0">
                <a:solidFill>
                  <a:srgbClr val="667085"/>
                </a:solidFill>
                <a:latin typeface="Arial"/>
                <a:ea typeface="Arial"/>
                <a:cs typeface="Arial"/>
              </a:rPr>
              <a:t>How often is a late order placed above an on-time order across the full ranking?</a:t>
            </a:r>
          </a:p>
        </p:txBody>
      </p:sp>
      <p:sp>
        <p:nvSpPr>
          <p:cNvPr id="15" name="矩形: 圆角 14">
            <a:extLst>
              <a:ext uri="{FF2B5EF4-FFF2-40B4-BE49-F238E27FC236}">
                <a16:creationId xmlns:a16="http://schemas.microsoft.com/office/drawing/2014/main" id="{E178B192-8571-42C9-A99A-C960157350D1}"/>
              </a:ext>
            </a:extLst>
          </p:cNvPr>
          <p:cNvSpPr>
            <a:spLocks noGrp="1"/>
          </p:cNvSpPr>
          <p:nvPr/>
        </p:nvSpPr>
        <p:spPr>
          <a:xfrm>
            <a:off x="8229600" y="2190750"/>
            <a:ext cx="3562350" cy="3390900"/>
          </a:xfrm>
          <a:prstGeom prst="roundRect">
            <a:avLst>
              <a:gd name="adj" fmla="val 3371"/>
            </a:avLst>
          </a:prstGeom>
          <a:solidFill>
            <a:srgbClr val="F2F4F7"/>
          </a:solidFill>
          <a:ln w="0">
            <a:solidFill>
              <a:srgbClr val="F2F4F7"/>
            </a:solidFill>
            <a:prstDash val="solid"/>
          </a:ln>
        </p:spPr>
        <p:txBody>
          <a:bodyPr/>
          <a:lstStyle/>
          <a:p>
            <a:endParaRPr lang="zh-CN" altLang="en-US"/>
          </a:p>
        </p:txBody>
      </p:sp>
      <p:sp>
        <p:nvSpPr>
          <p:cNvPr id="16" name="矩形 15">
            <a:extLst>
              <a:ext uri="{FF2B5EF4-FFF2-40B4-BE49-F238E27FC236}">
                <a16:creationId xmlns:a16="http://schemas.microsoft.com/office/drawing/2014/main" id="{38059A24-F803-44EE-8F47-00EBDE941901}"/>
              </a:ext>
            </a:extLst>
          </p:cNvPr>
          <p:cNvSpPr>
            <a:spLocks noGrp="1"/>
          </p:cNvSpPr>
          <p:nvPr/>
        </p:nvSpPr>
        <p:spPr>
          <a:xfrm>
            <a:off x="8496300" y="2476500"/>
            <a:ext cx="3028950" cy="704850"/>
          </a:xfrm>
          <a:prstGeom prst="rect">
            <a:avLst/>
          </a:prstGeom>
          <a:noFill/>
          <a:ln w="0">
            <a:noFill/>
            <a:prstDash val="solid"/>
          </a:ln>
        </p:spPr>
        <p:txBody>
          <a:bodyPr wrap="square" lIns="0" tIns="0" rIns="0" bIns="0" anchor="b">
            <a:normAutofit/>
          </a:bodyPr>
          <a:lstStyle/>
          <a:p>
            <a:pPr algn="l">
              <a:lnSpc>
                <a:spcPct val="105000"/>
              </a:lnSpc>
              <a:buNone/>
              <a:defRPr sz="3900" b="1" i="0">
                <a:solidFill>
                  <a:srgbClr val="F97316"/>
                </a:solidFill>
                <a:latin typeface="Arial"/>
                <a:ea typeface="Arial"/>
                <a:cs typeface="Arial"/>
              </a:defRPr>
            </a:pPr>
            <a:r>
              <a:rPr sz="3900" b="1" i="0">
                <a:solidFill>
                  <a:srgbClr val="F97316"/>
                </a:solidFill>
                <a:latin typeface="Arial"/>
                <a:ea typeface="Arial"/>
                <a:cs typeface="Arial"/>
              </a:rPr>
              <a:t>Baseline</a:t>
            </a:r>
          </a:p>
        </p:txBody>
      </p:sp>
      <p:sp>
        <p:nvSpPr>
          <p:cNvPr id="17" name="矩形 16">
            <a:extLst>
              <a:ext uri="{FF2B5EF4-FFF2-40B4-BE49-F238E27FC236}">
                <a16:creationId xmlns:a16="http://schemas.microsoft.com/office/drawing/2014/main" id="{9357EC8B-F418-4BEE-893C-3316FB450723}"/>
              </a:ext>
            </a:extLst>
          </p:cNvPr>
          <p:cNvSpPr>
            <a:spLocks noGrp="1"/>
          </p:cNvSpPr>
          <p:nvPr/>
        </p:nvSpPr>
        <p:spPr>
          <a:xfrm>
            <a:off x="8496300" y="3333750"/>
            <a:ext cx="3028950" cy="381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No-skill reference</a:t>
            </a:r>
          </a:p>
        </p:txBody>
      </p:sp>
      <p:sp>
        <p:nvSpPr>
          <p:cNvPr id="18" name="矩形 17">
            <a:extLst>
              <a:ext uri="{FF2B5EF4-FFF2-40B4-BE49-F238E27FC236}">
                <a16:creationId xmlns:a16="http://schemas.microsoft.com/office/drawing/2014/main" id="{C61175D7-7CC2-45C6-9A15-10A605FAB6FE}"/>
              </a:ext>
            </a:extLst>
          </p:cNvPr>
          <p:cNvSpPr>
            <a:spLocks noGrp="1"/>
          </p:cNvSpPr>
          <p:nvPr/>
        </p:nvSpPr>
        <p:spPr>
          <a:xfrm>
            <a:off x="8496300" y="3848100"/>
            <a:ext cx="3028950" cy="146685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667085"/>
                </a:solidFill>
                <a:latin typeface="Arial"/>
                <a:ea typeface="Arial"/>
                <a:cs typeface="Arial"/>
              </a:defRPr>
            </a:pPr>
            <a:r>
              <a:rPr sz="1425" b="0" i="0">
                <a:solidFill>
                  <a:srgbClr val="667085"/>
                </a:solidFill>
                <a:latin typeface="Arial"/>
                <a:ea typeface="Arial"/>
                <a:cs typeface="Arial"/>
              </a:rPr>
              <a:t>AP equals test prevalence; ROC-AUC equals 0.50 when the ranking has no useful signal.</a:t>
            </a:r>
          </a:p>
        </p:txBody>
      </p:sp>
      <p:sp>
        <p:nvSpPr>
          <p:cNvPr id="19" name="矩形 18">
            <a:extLst>
              <a:ext uri="{FF2B5EF4-FFF2-40B4-BE49-F238E27FC236}">
                <a16:creationId xmlns:a16="http://schemas.microsoft.com/office/drawing/2014/main" id="{85EF2807-C46A-4CA3-8F49-ABA0C34910A7}"/>
              </a:ext>
            </a:extLst>
          </p:cNvPr>
          <p:cNvSpPr>
            <a:spLocks noGrp="1"/>
          </p:cNvSpPr>
          <p:nvPr/>
        </p:nvSpPr>
        <p:spPr>
          <a:xfrm>
            <a:off x="400050" y="5810250"/>
            <a:ext cx="11391900" cy="285750"/>
          </a:xfrm>
          <a:prstGeom prst="rect">
            <a:avLst/>
          </a:prstGeom>
          <a:noFill/>
          <a:ln w="0">
            <a:noFill/>
            <a:prstDash val="solid"/>
          </a:ln>
        </p:spPr>
        <p:txBody>
          <a:bodyPr wrap="square" lIns="0" tIns="0" rIns="0" bIns="0" anchor="t">
            <a:normAutofit/>
          </a:bodyPr>
          <a:lstStyle/>
          <a:p>
            <a:pPr algn="ctr">
              <a:lnSpc>
                <a:spcPct val="105000"/>
              </a:lnSpc>
              <a:buNone/>
              <a:defRPr sz="1500" b="0" i="1">
                <a:solidFill>
                  <a:srgbClr val="667085"/>
                </a:solidFill>
                <a:latin typeface="Arial"/>
                <a:ea typeface="Arial"/>
                <a:cs typeface="Arial"/>
              </a:defRPr>
            </a:pPr>
            <a:r>
              <a:rPr sz="1500" b="0" i="1">
                <a:solidFill>
                  <a:srgbClr val="667085"/>
                </a:solidFill>
                <a:latin typeface="Arial"/>
                <a:ea typeface="Arial"/>
                <a:cs typeface="Arial"/>
              </a:rPr>
              <a:t>Higher is better. These metrics evaluate relative ranking, not certainty for an individual order.</a:t>
            </a:r>
          </a:p>
        </p:txBody>
      </p:sp>
    </p:spTree>
    <p:extLst>
      <p:ext uri="{BB962C8B-B14F-4D97-AF65-F5344CB8AC3E}">
        <p14:creationId xmlns:p14="http://schemas.microsoft.com/office/powerpoint/2010/main" val="124816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250E2D9B-CE49-4826-8125-6F9A72F5F1AA}"/>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AQ3 - EVIDENCE</a:t>
            </a:r>
          </a:p>
        </p:txBody>
      </p:sp>
      <p:sp>
        <p:nvSpPr>
          <p:cNvPr id="2" name="矩形 1">
            <a:extLst>
              <a:ext uri="{FF2B5EF4-FFF2-40B4-BE49-F238E27FC236}">
                <a16:creationId xmlns:a16="http://schemas.microsoft.com/office/drawing/2014/main" id="{F0A4D46A-2089-42D2-9ABC-ED7B8378D0A0}"/>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Logistic regression beat the ranking baseline</a:t>
            </a:r>
          </a:p>
        </p:txBody>
      </p:sp>
      <p:sp>
        <p:nvSpPr>
          <p:cNvPr id="3" name="直接连接符 2">
            <a:extLst>
              <a:ext uri="{FF2B5EF4-FFF2-40B4-BE49-F238E27FC236}">
                <a16:creationId xmlns:a16="http://schemas.microsoft.com/office/drawing/2014/main" id="{F9577E50-C630-4E91-A656-E7E0DE84F604}"/>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07D5F846-563A-4A40-844F-45317E1CBB39}"/>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3104B342-0B5B-4E4A-A800-1845AA02E8D3}"/>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9</a:t>
            </a:r>
          </a:p>
        </p:txBody>
      </p:sp>
      <p:sp>
        <p:nvSpPr>
          <p:cNvPr id="13" name="矩形: 圆角 12">
            <a:extLst>
              <a:ext uri="{FF2B5EF4-FFF2-40B4-BE49-F238E27FC236}">
                <a16:creationId xmlns:a16="http://schemas.microsoft.com/office/drawing/2014/main" id="{DE59D40D-DA06-4E2C-9BD6-10954E127AA1}"/>
              </a:ext>
            </a:extLst>
          </p:cNvPr>
          <p:cNvSpPr>
            <a:spLocks noGrp="1"/>
          </p:cNvSpPr>
          <p:nvPr/>
        </p:nvSpPr>
        <p:spPr>
          <a:xfrm>
            <a:off x="7907216" y="4914899"/>
            <a:ext cx="3562350" cy="1104900"/>
          </a:xfrm>
          <a:prstGeom prst="roundRect">
            <a:avLst>
              <a:gd name="adj" fmla="val 10345"/>
            </a:avLst>
          </a:prstGeom>
          <a:solidFill>
            <a:srgbClr val="EFF8FF"/>
          </a:solidFill>
          <a:ln w="0">
            <a:solidFill>
              <a:srgbClr val="F2F4F7"/>
            </a:solidFill>
            <a:prstDash val="solid"/>
          </a:ln>
        </p:spPr>
        <p:txBody>
          <a:bodyPr/>
          <a:lstStyle/>
          <a:p>
            <a:endParaRPr lang="zh-CN" altLang="en-US"/>
          </a:p>
        </p:txBody>
      </p:sp>
      <p:sp>
        <p:nvSpPr>
          <p:cNvPr id="14" name="矩形 13">
            <a:extLst>
              <a:ext uri="{FF2B5EF4-FFF2-40B4-BE49-F238E27FC236}">
                <a16:creationId xmlns:a16="http://schemas.microsoft.com/office/drawing/2014/main" id="{7188D287-6C93-47E6-93E9-31B986CDDDB0}"/>
              </a:ext>
            </a:extLst>
          </p:cNvPr>
          <p:cNvSpPr>
            <a:spLocks noGrp="1"/>
          </p:cNvSpPr>
          <p:nvPr/>
        </p:nvSpPr>
        <p:spPr>
          <a:xfrm>
            <a:off x="8096250" y="5067300"/>
            <a:ext cx="3067050" cy="666750"/>
          </a:xfrm>
          <a:prstGeom prst="rect">
            <a:avLst/>
          </a:prstGeom>
          <a:noFill/>
          <a:ln w="0">
            <a:noFill/>
            <a:prstDash val="solid"/>
          </a:ln>
        </p:spPr>
        <p:txBody>
          <a:bodyPr wrap="square" lIns="0" tIns="0" rIns="0" bIns="0" anchor="t">
            <a:normAutofit fontScale="90172" lnSpcReduction="10000"/>
          </a:bodyPr>
          <a:lstStyle/>
          <a:p>
            <a:pPr algn="l">
              <a:lnSpc>
                <a:spcPct val="112000"/>
              </a:lnSpc>
              <a:buNone/>
              <a:defRPr sz="1575" b="1" i="0">
                <a:solidFill>
                  <a:srgbClr val="111827"/>
                </a:solidFill>
                <a:latin typeface="Arial"/>
                <a:ea typeface="Arial"/>
                <a:cs typeface="Arial"/>
              </a:defRPr>
            </a:pPr>
            <a:r>
              <a:rPr sz="1575" b="1" i="0" dirty="0">
                <a:solidFill>
                  <a:srgbClr val="111827"/>
                </a:solidFill>
                <a:latin typeface="Arial"/>
                <a:ea typeface="Arial"/>
                <a:cs typeface="Arial"/>
              </a:rPr>
              <a:t>Use the score for relative </a:t>
            </a:r>
            <a:r>
              <a:rPr sz="1575" b="1" i="0" dirty="0" err="1">
                <a:solidFill>
                  <a:srgbClr val="111827"/>
                </a:solidFill>
                <a:latin typeface="Arial"/>
                <a:ea typeface="Arial"/>
                <a:cs typeface="Arial"/>
              </a:rPr>
              <a:t>prioritisation</a:t>
            </a:r>
            <a:r>
              <a:rPr sz="1575" b="1" i="0" dirty="0">
                <a:solidFill>
                  <a:srgbClr val="111827"/>
                </a:solidFill>
                <a:latin typeface="Arial"/>
                <a:ea typeface="Arial"/>
                <a:cs typeface="Arial"/>
              </a:rPr>
              <a:t>, not as certainty about an individual order.</a:t>
            </a:r>
          </a:p>
        </p:txBody>
      </p:sp>
      <p:pic>
        <p:nvPicPr>
          <p:cNvPr id="16" name="图片 15">
            <a:extLst>
              <a:ext uri="{FF2B5EF4-FFF2-40B4-BE49-F238E27FC236}">
                <a16:creationId xmlns:a16="http://schemas.microsoft.com/office/drawing/2014/main" id="{B22C35AE-3554-320B-C4DE-FB25FB8D832D}"/>
              </a:ext>
            </a:extLst>
          </p:cNvPr>
          <p:cNvPicPr>
            <a:picLocks noChangeAspect="1"/>
          </p:cNvPicPr>
          <p:nvPr/>
        </p:nvPicPr>
        <p:blipFill>
          <a:blip r:embed="rId3"/>
          <a:stretch>
            <a:fillRect/>
          </a:stretch>
        </p:blipFill>
        <p:spPr>
          <a:xfrm>
            <a:off x="990600" y="1390651"/>
            <a:ext cx="6246727" cy="4730261"/>
          </a:xfrm>
          <a:prstGeom prst="rect">
            <a:avLst/>
          </a:prstGeom>
        </p:spPr>
      </p:pic>
      <p:pic>
        <p:nvPicPr>
          <p:cNvPr id="21" name="图片 20">
            <a:extLst>
              <a:ext uri="{FF2B5EF4-FFF2-40B4-BE49-F238E27FC236}">
                <a16:creationId xmlns:a16="http://schemas.microsoft.com/office/drawing/2014/main" id="{E2849DED-6FD0-6189-852C-A51F74820914}"/>
              </a:ext>
            </a:extLst>
          </p:cNvPr>
          <p:cNvPicPr>
            <a:picLocks noChangeAspect="1"/>
          </p:cNvPicPr>
          <p:nvPr/>
        </p:nvPicPr>
        <p:blipFill>
          <a:blip r:embed="rId4"/>
          <a:stretch>
            <a:fillRect/>
          </a:stretch>
        </p:blipFill>
        <p:spPr>
          <a:xfrm>
            <a:off x="7907216" y="1390651"/>
            <a:ext cx="3562350" cy="1602333"/>
          </a:xfrm>
          <a:prstGeom prst="rect">
            <a:avLst/>
          </a:prstGeom>
        </p:spPr>
      </p:pic>
      <p:pic>
        <p:nvPicPr>
          <p:cNvPr id="23" name="图片 22">
            <a:extLst>
              <a:ext uri="{FF2B5EF4-FFF2-40B4-BE49-F238E27FC236}">
                <a16:creationId xmlns:a16="http://schemas.microsoft.com/office/drawing/2014/main" id="{27D2D642-9766-37EF-E3BF-39F9714AA4ED}"/>
              </a:ext>
            </a:extLst>
          </p:cNvPr>
          <p:cNvPicPr>
            <a:picLocks noChangeAspect="1"/>
          </p:cNvPicPr>
          <p:nvPr/>
        </p:nvPicPr>
        <p:blipFill>
          <a:blip r:embed="rId5"/>
          <a:stretch>
            <a:fillRect/>
          </a:stretch>
        </p:blipFill>
        <p:spPr>
          <a:xfrm>
            <a:off x="7907216" y="3126334"/>
            <a:ext cx="3562350" cy="1679564"/>
          </a:xfrm>
          <a:prstGeom prst="rect">
            <a:avLst/>
          </a:prstGeom>
        </p:spPr>
      </p:pic>
    </p:spTree>
    <p:extLst>
      <p:ext uri="{BB962C8B-B14F-4D97-AF65-F5344CB8AC3E}">
        <p14:creationId xmlns:p14="http://schemas.microsoft.com/office/powerpoint/2010/main" val="826662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1E666913-7B1A-47B7-981D-C64D24E783A9}"/>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AQ4 - MEASURE</a:t>
            </a:r>
          </a:p>
        </p:txBody>
      </p:sp>
      <p:sp>
        <p:nvSpPr>
          <p:cNvPr id="2" name="矩形 1">
            <a:extLst>
              <a:ext uri="{FF2B5EF4-FFF2-40B4-BE49-F238E27FC236}">
                <a16:creationId xmlns:a16="http://schemas.microsoft.com/office/drawing/2014/main" id="{61D4A67E-8483-4D66-B3B2-979D5599D163}"/>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AQ4 turns risk ranks into capacity choices</a:t>
            </a:r>
          </a:p>
        </p:txBody>
      </p:sp>
      <p:sp>
        <p:nvSpPr>
          <p:cNvPr id="3" name="直接连接符 2">
            <a:extLst>
              <a:ext uri="{FF2B5EF4-FFF2-40B4-BE49-F238E27FC236}">
                <a16:creationId xmlns:a16="http://schemas.microsoft.com/office/drawing/2014/main" id="{90F93B6E-5217-4B4A-9571-0EFA0A7707E2}"/>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8135776D-8BB7-4746-A166-7D5CB6C6319C}"/>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DAE3CB5A-59B5-49E8-8BCF-91CBC62AD10E}"/>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10</a:t>
            </a:r>
          </a:p>
        </p:txBody>
      </p:sp>
      <p:sp>
        <p:nvSpPr>
          <p:cNvPr id="6" name="矩形: 圆角 5">
            <a:extLst>
              <a:ext uri="{FF2B5EF4-FFF2-40B4-BE49-F238E27FC236}">
                <a16:creationId xmlns:a16="http://schemas.microsoft.com/office/drawing/2014/main" id="{C7C6448C-3A58-44FE-9AB2-B2F7984B6EA7}"/>
              </a:ext>
            </a:extLst>
          </p:cNvPr>
          <p:cNvSpPr>
            <a:spLocks noGrp="1"/>
          </p:cNvSpPr>
          <p:nvPr/>
        </p:nvSpPr>
        <p:spPr>
          <a:xfrm>
            <a:off x="400050" y="1657350"/>
            <a:ext cx="5410200" cy="1885950"/>
          </a:xfrm>
          <a:prstGeom prst="roundRect">
            <a:avLst>
              <a:gd name="adj" fmla="val 6061"/>
            </a:avLst>
          </a:prstGeom>
          <a:solidFill>
            <a:srgbClr val="F2F4F7"/>
          </a:solidFill>
          <a:ln w="0">
            <a:solidFill>
              <a:srgbClr val="F2F4F7"/>
            </a:solidFill>
            <a:prstDash val="solid"/>
          </a:ln>
        </p:spPr>
        <p:txBody>
          <a:bodyPr/>
          <a:lstStyle/>
          <a:p>
            <a:endParaRPr lang="zh-CN" altLang="en-US"/>
          </a:p>
        </p:txBody>
      </p:sp>
      <p:sp>
        <p:nvSpPr>
          <p:cNvPr id="7" name="矩形 6">
            <a:extLst>
              <a:ext uri="{FF2B5EF4-FFF2-40B4-BE49-F238E27FC236}">
                <a16:creationId xmlns:a16="http://schemas.microsoft.com/office/drawing/2014/main" id="{17845FAB-0291-4A71-BC93-D033601FFB37}"/>
              </a:ext>
            </a:extLst>
          </p:cNvPr>
          <p:cNvSpPr>
            <a:spLocks noGrp="1"/>
          </p:cNvSpPr>
          <p:nvPr/>
        </p:nvSpPr>
        <p:spPr>
          <a:xfrm>
            <a:off x="647700" y="1885950"/>
            <a:ext cx="4914900" cy="381000"/>
          </a:xfrm>
          <a:prstGeom prst="rect">
            <a:avLst/>
          </a:prstGeom>
          <a:noFill/>
          <a:ln w="0">
            <a:noFill/>
            <a:prstDash val="solid"/>
          </a:ln>
        </p:spPr>
        <p:txBody>
          <a:bodyPr wrap="square" lIns="0" tIns="0" rIns="0" bIns="0" anchor="t">
            <a:normAutofit/>
          </a:bodyPr>
          <a:lstStyle/>
          <a:p>
            <a:pPr algn="l">
              <a:lnSpc>
                <a:spcPct val="105000"/>
              </a:lnSpc>
              <a:buNone/>
              <a:defRPr sz="2250" b="1" i="0">
                <a:solidFill>
                  <a:srgbClr val="3D8DFF"/>
                </a:solidFill>
                <a:latin typeface="Arial"/>
                <a:ea typeface="Arial"/>
                <a:cs typeface="Arial"/>
              </a:defRPr>
            </a:pPr>
            <a:r>
              <a:rPr sz="2250" b="1" i="0">
                <a:solidFill>
                  <a:srgbClr val="3D8DFF"/>
                </a:solidFill>
                <a:latin typeface="Arial"/>
                <a:ea typeface="Arial"/>
                <a:cs typeface="Arial"/>
              </a:rPr>
              <a:t>Capacity</a:t>
            </a:r>
          </a:p>
        </p:txBody>
      </p:sp>
      <p:sp>
        <p:nvSpPr>
          <p:cNvPr id="8" name="矩形 7">
            <a:extLst>
              <a:ext uri="{FF2B5EF4-FFF2-40B4-BE49-F238E27FC236}">
                <a16:creationId xmlns:a16="http://schemas.microsoft.com/office/drawing/2014/main" id="{CF6CD872-57F7-4D07-994D-A2C7F0FBA922}"/>
              </a:ext>
            </a:extLst>
          </p:cNvPr>
          <p:cNvSpPr>
            <a:spLocks noGrp="1"/>
          </p:cNvSpPr>
          <p:nvPr/>
        </p:nvSpPr>
        <p:spPr>
          <a:xfrm>
            <a:off x="647700" y="2419350"/>
            <a:ext cx="4914900" cy="7239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111827"/>
                </a:solidFill>
                <a:latin typeface="Arial"/>
                <a:ea typeface="Arial"/>
                <a:cs typeface="Arial"/>
              </a:defRPr>
            </a:pPr>
            <a:r>
              <a:rPr sz="1575" b="0" i="0">
                <a:solidFill>
                  <a:srgbClr val="111827"/>
                </a:solidFill>
                <a:latin typeface="Arial"/>
                <a:ea typeface="Arial"/>
                <a:cs typeface="Arial"/>
              </a:rPr>
              <a:t>Maximum share of eligible orders that can be reviewed.</a:t>
            </a:r>
          </a:p>
        </p:txBody>
      </p:sp>
      <p:sp>
        <p:nvSpPr>
          <p:cNvPr id="9" name="矩形 8">
            <a:extLst>
              <a:ext uri="{FF2B5EF4-FFF2-40B4-BE49-F238E27FC236}">
                <a16:creationId xmlns:a16="http://schemas.microsoft.com/office/drawing/2014/main" id="{D03FBEBC-09F9-41D6-8DB9-E7FAF77821F8}"/>
              </a:ext>
            </a:extLst>
          </p:cNvPr>
          <p:cNvSpPr>
            <a:spLocks noGrp="1"/>
          </p:cNvSpPr>
          <p:nvPr/>
        </p:nvSpPr>
        <p:spPr>
          <a:xfrm>
            <a:off x="647700" y="2952750"/>
            <a:ext cx="4914900" cy="361950"/>
          </a:xfrm>
          <a:prstGeom prst="rect">
            <a:avLst/>
          </a:prstGeom>
          <a:noFill/>
          <a:ln w="0">
            <a:noFill/>
            <a:prstDash val="solid"/>
          </a:ln>
        </p:spPr>
        <p:txBody>
          <a:bodyPr wrap="square" lIns="0" tIns="0" rIns="0" bIns="0" anchor="t">
            <a:normAutofit/>
          </a:bodyPr>
          <a:lstStyle/>
          <a:p>
            <a:pPr algn="l">
              <a:lnSpc>
                <a:spcPct val="105000"/>
              </a:lnSpc>
              <a:buNone/>
              <a:defRPr sz="1275" b="0" i="1">
                <a:solidFill>
                  <a:srgbClr val="667085"/>
                </a:solidFill>
                <a:latin typeface="Arial"/>
                <a:ea typeface="Arial"/>
                <a:cs typeface="Arial"/>
              </a:defRPr>
            </a:pPr>
            <a:r>
              <a:rPr sz="1275" b="0" i="1">
                <a:solidFill>
                  <a:srgbClr val="667085"/>
                </a:solidFill>
                <a:latin typeface="Arial"/>
                <a:ea typeface="Arial"/>
                <a:cs typeface="Arial"/>
              </a:rPr>
              <a:t>How much workload can the team accept?</a:t>
            </a:r>
          </a:p>
        </p:txBody>
      </p:sp>
      <p:sp>
        <p:nvSpPr>
          <p:cNvPr id="10" name="矩形: 圆角 9">
            <a:extLst>
              <a:ext uri="{FF2B5EF4-FFF2-40B4-BE49-F238E27FC236}">
                <a16:creationId xmlns:a16="http://schemas.microsoft.com/office/drawing/2014/main" id="{3579010C-BEE3-4DB6-B0C8-41B4260CAF29}"/>
              </a:ext>
            </a:extLst>
          </p:cNvPr>
          <p:cNvSpPr>
            <a:spLocks noGrp="1"/>
          </p:cNvSpPr>
          <p:nvPr/>
        </p:nvSpPr>
        <p:spPr>
          <a:xfrm>
            <a:off x="5981700" y="1657350"/>
            <a:ext cx="5410200" cy="1885950"/>
          </a:xfrm>
          <a:prstGeom prst="roundRect">
            <a:avLst>
              <a:gd name="adj" fmla="val 6061"/>
            </a:avLst>
          </a:prstGeom>
          <a:solidFill>
            <a:srgbClr val="F2F4F7"/>
          </a:solidFill>
          <a:ln w="0">
            <a:solidFill>
              <a:srgbClr val="F2F4F7"/>
            </a:solidFill>
            <a:prstDash val="solid"/>
          </a:ln>
        </p:spPr>
        <p:txBody>
          <a:bodyPr/>
          <a:lstStyle/>
          <a:p>
            <a:endParaRPr lang="zh-CN" altLang="en-US"/>
          </a:p>
        </p:txBody>
      </p:sp>
      <p:sp>
        <p:nvSpPr>
          <p:cNvPr id="11" name="矩形 10">
            <a:extLst>
              <a:ext uri="{FF2B5EF4-FFF2-40B4-BE49-F238E27FC236}">
                <a16:creationId xmlns:a16="http://schemas.microsoft.com/office/drawing/2014/main" id="{7FEC0552-03E3-412C-AA97-E7015E3F8A59}"/>
              </a:ext>
            </a:extLst>
          </p:cNvPr>
          <p:cNvSpPr>
            <a:spLocks noGrp="1"/>
          </p:cNvSpPr>
          <p:nvPr/>
        </p:nvSpPr>
        <p:spPr>
          <a:xfrm>
            <a:off x="6229350" y="1885950"/>
            <a:ext cx="4914900" cy="381000"/>
          </a:xfrm>
          <a:prstGeom prst="rect">
            <a:avLst/>
          </a:prstGeom>
          <a:noFill/>
          <a:ln w="0">
            <a:noFill/>
            <a:prstDash val="solid"/>
          </a:ln>
        </p:spPr>
        <p:txBody>
          <a:bodyPr wrap="square" lIns="0" tIns="0" rIns="0" bIns="0" anchor="t">
            <a:normAutofit/>
          </a:bodyPr>
          <a:lstStyle/>
          <a:p>
            <a:pPr algn="l">
              <a:lnSpc>
                <a:spcPct val="105000"/>
              </a:lnSpc>
              <a:buNone/>
              <a:defRPr sz="2250" b="1" i="0">
                <a:solidFill>
                  <a:srgbClr val="3D8DFF"/>
                </a:solidFill>
                <a:latin typeface="Arial"/>
                <a:ea typeface="Arial"/>
                <a:cs typeface="Arial"/>
              </a:defRPr>
            </a:pPr>
            <a:r>
              <a:rPr sz="2250" b="1" i="0">
                <a:solidFill>
                  <a:srgbClr val="3D8DFF"/>
                </a:solidFill>
                <a:latin typeface="Arial"/>
                <a:ea typeface="Arial"/>
                <a:cs typeface="Arial"/>
              </a:rPr>
              <a:t>Late-order recall</a:t>
            </a:r>
          </a:p>
        </p:txBody>
      </p:sp>
      <p:sp>
        <p:nvSpPr>
          <p:cNvPr id="12" name="矩形 11">
            <a:extLst>
              <a:ext uri="{FF2B5EF4-FFF2-40B4-BE49-F238E27FC236}">
                <a16:creationId xmlns:a16="http://schemas.microsoft.com/office/drawing/2014/main" id="{B22329A4-5836-4DE9-87C8-635773295C0B}"/>
              </a:ext>
            </a:extLst>
          </p:cNvPr>
          <p:cNvSpPr>
            <a:spLocks noGrp="1"/>
          </p:cNvSpPr>
          <p:nvPr/>
        </p:nvSpPr>
        <p:spPr>
          <a:xfrm>
            <a:off x="6229350" y="2419350"/>
            <a:ext cx="4914900" cy="7239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111827"/>
                </a:solidFill>
                <a:latin typeface="Arial"/>
                <a:ea typeface="Arial"/>
                <a:cs typeface="Arial"/>
              </a:defRPr>
            </a:pPr>
            <a:r>
              <a:rPr sz="1575" b="0" i="0">
                <a:solidFill>
                  <a:srgbClr val="111827"/>
                </a:solidFill>
                <a:latin typeface="Arial"/>
                <a:ea typeface="Arial"/>
                <a:cs typeface="Arial"/>
              </a:rPr>
              <a:t>Selected late orders divided by all actual late orders.</a:t>
            </a:r>
          </a:p>
        </p:txBody>
      </p:sp>
      <p:sp>
        <p:nvSpPr>
          <p:cNvPr id="13" name="矩形 12">
            <a:extLst>
              <a:ext uri="{FF2B5EF4-FFF2-40B4-BE49-F238E27FC236}">
                <a16:creationId xmlns:a16="http://schemas.microsoft.com/office/drawing/2014/main" id="{80F261E2-5390-44BE-B33E-32E0F4777EF3}"/>
              </a:ext>
            </a:extLst>
          </p:cNvPr>
          <p:cNvSpPr>
            <a:spLocks noGrp="1"/>
          </p:cNvSpPr>
          <p:nvPr/>
        </p:nvSpPr>
        <p:spPr>
          <a:xfrm>
            <a:off x="6229350" y="2952750"/>
            <a:ext cx="4914900" cy="361950"/>
          </a:xfrm>
          <a:prstGeom prst="rect">
            <a:avLst/>
          </a:prstGeom>
          <a:noFill/>
          <a:ln w="0">
            <a:noFill/>
            <a:prstDash val="solid"/>
          </a:ln>
        </p:spPr>
        <p:txBody>
          <a:bodyPr wrap="square" lIns="0" tIns="0" rIns="0" bIns="0" anchor="t">
            <a:normAutofit/>
          </a:bodyPr>
          <a:lstStyle/>
          <a:p>
            <a:pPr algn="l">
              <a:lnSpc>
                <a:spcPct val="105000"/>
              </a:lnSpc>
              <a:buNone/>
              <a:defRPr sz="1275" b="0" i="1">
                <a:solidFill>
                  <a:srgbClr val="667085"/>
                </a:solidFill>
                <a:latin typeface="Arial"/>
                <a:ea typeface="Arial"/>
                <a:cs typeface="Arial"/>
              </a:defRPr>
            </a:pPr>
            <a:r>
              <a:rPr sz="1275" b="0" i="1">
                <a:solidFill>
                  <a:srgbClr val="667085"/>
                </a:solidFill>
                <a:latin typeface="Arial"/>
                <a:ea typeface="Arial"/>
                <a:cs typeface="Arial"/>
              </a:rPr>
              <a:t>How much of the problem does the queue cover?</a:t>
            </a:r>
          </a:p>
        </p:txBody>
      </p:sp>
      <p:sp>
        <p:nvSpPr>
          <p:cNvPr id="14" name="矩形: 圆角 13">
            <a:extLst>
              <a:ext uri="{FF2B5EF4-FFF2-40B4-BE49-F238E27FC236}">
                <a16:creationId xmlns:a16="http://schemas.microsoft.com/office/drawing/2014/main" id="{84171361-9EDA-4813-A9CF-AAFCA5667CD7}"/>
              </a:ext>
            </a:extLst>
          </p:cNvPr>
          <p:cNvSpPr>
            <a:spLocks noGrp="1"/>
          </p:cNvSpPr>
          <p:nvPr/>
        </p:nvSpPr>
        <p:spPr>
          <a:xfrm>
            <a:off x="400050" y="3771900"/>
            <a:ext cx="5410200" cy="1885950"/>
          </a:xfrm>
          <a:prstGeom prst="roundRect">
            <a:avLst>
              <a:gd name="adj" fmla="val 6061"/>
            </a:avLst>
          </a:prstGeom>
          <a:solidFill>
            <a:srgbClr val="F2F4F7"/>
          </a:solidFill>
          <a:ln w="0">
            <a:solidFill>
              <a:srgbClr val="F2F4F7"/>
            </a:solidFill>
            <a:prstDash val="solid"/>
          </a:ln>
        </p:spPr>
        <p:txBody>
          <a:bodyPr/>
          <a:lstStyle/>
          <a:p>
            <a:endParaRPr lang="zh-CN" altLang="en-US"/>
          </a:p>
        </p:txBody>
      </p:sp>
      <p:sp>
        <p:nvSpPr>
          <p:cNvPr id="15" name="矩形 14">
            <a:extLst>
              <a:ext uri="{FF2B5EF4-FFF2-40B4-BE49-F238E27FC236}">
                <a16:creationId xmlns:a16="http://schemas.microsoft.com/office/drawing/2014/main" id="{73D8A8B3-BD80-482E-87BB-66705F1DAFA8}"/>
              </a:ext>
            </a:extLst>
          </p:cNvPr>
          <p:cNvSpPr>
            <a:spLocks noGrp="1"/>
          </p:cNvSpPr>
          <p:nvPr/>
        </p:nvSpPr>
        <p:spPr>
          <a:xfrm>
            <a:off x="647700" y="4000500"/>
            <a:ext cx="4914900" cy="381000"/>
          </a:xfrm>
          <a:prstGeom prst="rect">
            <a:avLst/>
          </a:prstGeom>
          <a:noFill/>
          <a:ln w="0">
            <a:noFill/>
            <a:prstDash val="solid"/>
          </a:ln>
        </p:spPr>
        <p:txBody>
          <a:bodyPr wrap="square" lIns="0" tIns="0" rIns="0" bIns="0" anchor="t">
            <a:normAutofit/>
          </a:bodyPr>
          <a:lstStyle/>
          <a:p>
            <a:pPr algn="l">
              <a:lnSpc>
                <a:spcPct val="105000"/>
              </a:lnSpc>
              <a:buNone/>
              <a:defRPr sz="2250" b="1" i="0">
                <a:solidFill>
                  <a:srgbClr val="F97316"/>
                </a:solidFill>
                <a:latin typeface="Arial"/>
                <a:ea typeface="Arial"/>
                <a:cs typeface="Arial"/>
              </a:defRPr>
            </a:pPr>
            <a:r>
              <a:rPr sz="2250" b="1" i="0">
                <a:solidFill>
                  <a:srgbClr val="F97316"/>
                </a:solidFill>
                <a:latin typeface="Arial"/>
                <a:ea typeface="Arial"/>
                <a:cs typeface="Arial"/>
              </a:rPr>
              <a:t>Review precision</a:t>
            </a:r>
          </a:p>
        </p:txBody>
      </p:sp>
      <p:sp>
        <p:nvSpPr>
          <p:cNvPr id="16" name="矩形 15">
            <a:extLst>
              <a:ext uri="{FF2B5EF4-FFF2-40B4-BE49-F238E27FC236}">
                <a16:creationId xmlns:a16="http://schemas.microsoft.com/office/drawing/2014/main" id="{1F96BC76-2A6F-4331-A6D5-8DA47F21A165}"/>
              </a:ext>
            </a:extLst>
          </p:cNvPr>
          <p:cNvSpPr>
            <a:spLocks noGrp="1"/>
          </p:cNvSpPr>
          <p:nvPr/>
        </p:nvSpPr>
        <p:spPr>
          <a:xfrm>
            <a:off x="647700" y="4533900"/>
            <a:ext cx="4914900" cy="7239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111827"/>
                </a:solidFill>
                <a:latin typeface="Arial"/>
                <a:ea typeface="Arial"/>
                <a:cs typeface="Arial"/>
              </a:defRPr>
            </a:pPr>
            <a:r>
              <a:rPr sz="1575" b="0" i="0">
                <a:solidFill>
                  <a:srgbClr val="111827"/>
                </a:solidFill>
                <a:latin typeface="Arial"/>
                <a:ea typeface="Arial"/>
                <a:cs typeface="Arial"/>
              </a:rPr>
              <a:t>Selected late orders divided by all selected orders.</a:t>
            </a:r>
          </a:p>
        </p:txBody>
      </p:sp>
      <p:sp>
        <p:nvSpPr>
          <p:cNvPr id="17" name="矩形 16">
            <a:extLst>
              <a:ext uri="{FF2B5EF4-FFF2-40B4-BE49-F238E27FC236}">
                <a16:creationId xmlns:a16="http://schemas.microsoft.com/office/drawing/2014/main" id="{1F2305F5-F21A-4B58-BD03-97BA196796D5}"/>
              </a:ext>
            </a:extLst>
          </p:cNvPr>
          <p:cNvSpPr>
            <a:spLocks noGrp="1"/>
          </p:cNvSpPr>
          <p:nvPr/>
        </p:nvSpPr>
        <p:spPr>
          <a:xfrm>
            <a:off x="647700" y="5067300"/>
            <a:ext cx="4914900" cy="361950"/>
          </a:xfrm>
          <a:prstGeom prst="rect">
            <a:avLst/>
          </a:prstGeom>
          <a:noFill/>
          <a:ln w="0">
            <a:noFill/>
            <a:prstDash val="solid"/>
          </a:ln>
        </p:spPr>
        <p:txBody>
          <a:bodyPr wrap="square" lIns="0" tIns="0" rIns="0" bIns="0" anchor="t">
            <a:normAutofit/>
          </a:bodyPr>
          <a:lstStyle/>
          <a:p>
            <a:pPr algn="l">
              <a:lnSpc>
                <a:spcPct val="105000"/>
              </a:lnSpc>
              <a:buNone/>
              <a:defRPr sz="1275" b="0" i="1">
                <a:solidFill>
                  <a:srgbClr val="667085"/>
                </a:solidFill>
                <a:latin typeface="Arial"/>
                <a:ea typeface="Arial"/>
                <a:cs typeface="Arial"/>
              </a:defRPr>
            </a:pPr>
            <a:r>
              <a:rPr sz="1275" b="0" i="1">
                <a:solidFill>
                  <a:srgbClr val="667085"/>
                </a:solidFill>
                <a:latin typeface="Arial"/>
                <a:ea typeface="Arial"/>
                <a:cs typeface="Arial"/>
              </a:rPr>
              <a:t>How concentrated is the review queue?</a:t>
            </a:r>
          </a:p>
        </p:txBody>
      </p:sp>
      <p:sp>
        <p:nvSpPr>
          <p:cNvPr id="18" name="矩形: 圆角 17">
            <a:extLst>
              <a:ext uri="{FF2B5EF4-FFF2-40B4-BE49-F238E27FC236}">
                <a16:creationId xmlns:a16="http://schemas.microsoft.com/office/drawing/2014/main" id="{BE91FB83-1E67-4921-89A6-3A4E90488F94}"/>
              </a:ext>
            </a:extLst>
          </p:cNvPr>
          <p:cNvSpPr>
            <a:spLocks noGrp="1"/>
          </p:cNvSpPr>
          <p:nvPr/>
        </p:nvSpPr>
        <p:spPr>
          <a:xfrm>
            <a:off x="5981700" y="3771900"/>
            <a:ext cx="5410200" cy="1885950"/>
          </a:xfrm>
          <a:prstGeom prst="roundRect">
            <a:avLst>
              <a:gd name="adj" fmla="val 6061"/>
            </a:avLst>
          </a:prstGeom>
          <a:solidFill>
            <a:srgbClr val="F2F4F7"/>
          </a:solidFill>
          <a:ln w="0">
            <a:solidFill>
              <a:srgbClr val="F2F4F7"/>
            </a:solidFill>
            <a:prstDash val="solid"/>
          </a:ln>
        </p:spPr>
        <p:txBody>
          <a:bodyPr/>
          <a:lstStyle/>
          <a:p>
            <a:endParaRPr lang="zh-CN" altLang="en-US"/>
          </a:p>
        </p:txBody>
      </p:sp>
      <p:sp>
        <p:nvSpPr>
          <p:cNvPr id="19" name="矩形 18">
            <a:extLst>
              <a:ext uri="{FF2B5EF4-FFF2-40B4-BE49-F238E27FC236}">
                <a16:creationId xmlns:a16="http://schemas.microsoft.com/office/drawing/2014/main" id="{DAA54640-A4FD-431F-9D3E-CBF90E483471}"/>
              </a:ext>
            </a:extLst>
          </p:cNvPr>
          <p:cNvSpPr>
            <a:spLocks noGrp="1"/>
          </p:cNvSpPr>
          <p:nvPr/>
        </p:nvSpPr>
        <p:spPr>
          <a:xfrm>
            <a:off x="6229350" y="4000500"/>
            <a:ext cx="4914900" cy="381000"/>
          </a:xfrm>
          <a:prstGeom prst="rect">
            <a:avLst/>
          </a:prstGeom>
          <a:noFill/>
          <a:ln w="0">
            <a:noFill/>
            <a:prstDash val="solid"/>
          </a:ln>
        </p:spPr>
        <p:txBody>
          <a:bodyPr wrap="square" lIns="0" tIns="0" rIns="0" bIns="0" anchor="t">
            <a:normAutofit/>
          </a:bodyPr>
          <a:lstStyle/>
          <a:p>
            <a:pPr algn="l">
              <a:lnSpc>
                <a:spcPct val="105000"/>
              </a:lnSpc>
              <a:buNone/>
              <a:defRPr sz="2250" b="1" i="0">
                <a:solidFill>
                  <a:srgbClr val="F97316"/>
                </a:solidFill>
                <a:latin typeface="Arial"/>
                <a:ea typeface="Arial"/>
                <a:cs typeface="Arial"/>
              </a:defRPr>
            </a:pPr>
            <a:r>
              <a:rPr sz="2250" b="1" i="0">
                <a:solidFill>
                  <a:srgbClr val="F97316"/>
                </a:solidFill>
                <a:latin typeface="Arial"/>
                <a:ea typeface="Arial"/>
                <a:cs typeface="Arial"/>
              </a:rPr>
              <a:t>Lift</a:t>
            </a:r>
          </a:p>
        </p:txBody>
      </p:sp>
      <p:sp>
        <p:nvSpPr>
          <p:cNvPr id="20" name="矩形 19">
            <a:extLst>
              <a:ext uri="{FF2B5EF4-FFF2-40B4-BE49-F238E27FC236}">
                <a16:creationId xmlns:a16="http://schemas.microsoft.com/office/drawing/2014/main" id="{EAE4A6A5-C7DF-418D-A07F-7372C017AA85}"/>
              </a:ext>
            </a:extLst>
          </p:cNvPr>
          <p:cNvSpPr>
            <a:spLocks noGrp="1"/>
          </p:cNvSpPr>
          <p:nvPr/>
        </p:nvSpPr>
        <p:spPr>
          <a:xfrm>
            <a:off x="6229350" y="4533900"/>
            <a:ext cx="4914900" cy="7239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111827"/>
                </a:solidFill>
                <a:latin typeface="Arial"/>
                <a:ea typeface="Arial"/>
                <a:cs typeface="Arial"/>
              </a:defRPr>
            </a:pPr>
            <a:r>
              <a:rPr sz="1575" b="0" i="0">
                <a:solidFill>
                  <a:srgbClr val="111827"/>
                </a:solidFill>
                <a:latin typeface="Arial"/>
                <a:ea typeface="Arial"/>
                <a:cs typeface="Arial"/>
              </a:rPr>
              <a:t>Review precision divided by the overall test late-order rate.</a:t>
            </a:r>
          </a:p>
        </p:txBody>
      </p:sp>
      <p:sp>
        <p:nvSpPr>
          <p:cNvPr id="21" name="矩形 20">
            <a:extLst>
              <a:ext uri="{FF2B5EF4-FFF2-40B4-BE49-F238E27FC236}">
                <a16:creationId xmlns:a16="http://schemas.microsoft.com/office/drawing/2014/main" id="{C4588E4D-4A71-4D7D-A5D0-6C5284F4A3D0}"/>
              </a:ext>
            </a:extLst>
          </p:cNvPr>
          <p:cNvSpPr>
            <a:spLocks noGrp="1"/>
          </p:cNvSpPr>
          <p:nvPr/>
        </p:nvSpPr>
        <p:spPr>
          <a:xfrm>
            <a:off x="6229350" y="5067300"/>
            <a:ext cx="4914900" cy="361950"/>
          </a:xfrm>
          <a:prstGeom prst="rect">
            <a:avLst/>
          </a:prstGeom>
          <a:noFill/>
          <a:ln w="0">
            <a:noFill/>
            <a:prstDash val="solid"/>
          </a:ln>
        </p:spPr>
        <p:txBody>
          <a:bodyPr wrap="square" lIns="0" tIns="0" rIns="0" bIns="0" anchor="t">
            <a:normAutofit/>
          </a:bodyPr>
          <a:lstStyle/>
          <a:p>
            <a:pPr algn="l">
              <a:lnSpc>
                <a:spcPct val="105000"/>
              </a:lnSpc>
              <a:buNone/>
              <a:defRPr sz="1275" b="0" i="1">
                <a:solidFill>
                  <a:srgbClr val="667085"/>
                </a:solidFill>
                <a:latin typeface="Arial"/>
                <a:ea typeface="Arial"/>
                <a:cs typeface="Arial"/>
              </a:defRPr>
            </a:pPr>
            <a:r>
              <a:rPr sz="1275" b="0" i="1">
                <a:solidFill>
                  <a:srgbClr val="667085"/>
                </a:solidFill>
                <a:latin typeface="Arial"/>
                <a:ea typeface="Arial"/>
                <a:cs typeface="Arial"/>
              </a:rPr>
              <a:t>How much better is ranking than review without signal?</a:t>
            </a:r>
          </a:p>
        </p:txBody>
      </p:sp>
      <p:sp>
        <p:nvSpPr>
          <p:cNvPr id="22" name="矩形 21">
            <a:extLst>
              <a:ext uri="{FF2B5EF4-FFF2-40B4-BE49-F238E27FC236}">
                <a16:creationId xmlns:a16="http://schemas.microsoft.com/office/drawing/2014/main" id="{F951CE07-4730-460E-9AFD-D7711E848D43}"/>
              </a:ext>
            </a:extLst>
          </p:cNvPr>
          <p:cNvSpPr>
            <a:spLocks noGrp="1"/>
          </p:cNvSpPr>
          <p:nvPr/>
        </p:nvSpPr>
        <p:spPr>
          <a:xfrm>
            <a:off x="400050" y="5867400"/>
            <a:ext cx="10991850" cy="285750"/>
          </a:xfrm>
          <a:prstGeom prst="rect">
            <a:avLst/>
          </a:prstGeom>
          <a:noFill/>
          <a:ln w="0">
            <a:noFill/>
            <a:prstDash val="solid"/>
          </a:ln>
        </p:spPr>
        <p:txBody>
          <a:bodyPr wrap="square" lIns="0" tIns="0" rIns="0" bIns="0" anchor="t">
            <a:normAutofit/>
          </a:bodyPr>
          <a:lstStyle/>
          <a:p>
            <a:pPr algn="ctr">
              <a:lnSpc>
                <a:spcPct val="105000"/>
              </a:lnSpc>
              <a:buNone/>
              <a:defRPr sz="1575" b="1" i="0">
                <a:solidFill>
                  <a:srgbClr val="111827"/>
                </a:solidFill>
                <a:latin typeface="Arial"/>
                <a:ea typeface="Arial"/>
                <a:cs typeface="Arial"/>
              </a:defRPr>
            </a:pPr>
            <a:r>
              <a:rPr sz="1575" b="1" i="0">
                <a:solidFill>
                  <a:srgbClr val="111827"/>
                </a:solidFill>
                <a:latin typeface="Arial"/>
                <a:ea typeface="Arial"/>
                <a:cs typeface="Arial"/>
              </a:rPr>
              <a:t>Decision rule: review the highest-ranked orders until the selected capacity limit is reached.</a:t>
            </a:r>
          </a:p>
        </p:txBody>
      </p:sp>
    </p:spTree>
    <p:extLst>
      <p:ext uri="{BB962C8B-B14F-4D97-AF65-F5344CB8AC3E}">
        <p14:creationId xmlns:p14="http://schemas.microsoft.com/office/powerpoint/2010/main" val="1465680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5D10D7F1-28B2-4219-8AFF-A38B67714EC1}"/>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AQ4 - EVIDENCE</a:t>
            </a:r>
          </a:p>
        </p:txBody>
      </p:sp>
      <p:sp>
        <p:nvSpPr>
          <p:cNvPr id="2" name="矩形 1">
            <a:extLst>
              <a:ext uri="{FF2B5EF4-FFF2-40B4-BE49-F238E27FC236}">
                <a16:creationId xmlns:a16="http://schemas.microsoft.com/office/drawing/2014/main" id="{0CFAA7C1-4F7C-4BA2-A58B-3A13A1B70ED3}"/>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Capacity trades coverage for review efficiency</a:t>
            </a:r>
          </a:p>
        </p:txBody>
      </p:sp>
      <p:sp>
        <p:nvSpPr>
          <p:cNvPr id="3" name="直接连接符 2">
            <a:extLst>
              <a:ext uri="{FF2B5EF4-FFF2-40B4-BE49-F238E27FC236}">
                <a16:creationId xmlns:a16="http://schemas.microsoft.com/office/drawing/2014/main" id="{7F14C3D9-7F06-4176-B9E0-CBD9F3145FB6}"/>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642747FF-BEDC-4A57-BC0E-A293286B797C}"/>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3D554DDD-3D74-45D5-BE20-CCC3EF76E2D3}"/>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11</a:t>
            </a:r>
          </a:p>
        </p:txBody>
      </p:sp>
      <p:pic>
        <p:nvPicPr>
          <p:cNvPr id="17" name="图片 16">
            <a:extLst>
              <a:ext uri="{FF2B5EF4-FFF2-40B4-BE49-F238E27FC236}">
                <a16:creationId xmlns:a16="http://schemas.microsoft.com/office/drawing/2014/main" id="{83CA5D9B-0CC0-800D-FC1C-2BD098283F2D}"/>
              </a:ext>
            </a:extLst>
          </p:cNvPr>
          <p:cNvPicPr>
            <a:picLocks noChangeAspect="1"/>
          </p:cNvPicPr>
          <p:nvPr/>
        </p:nvPicPr>
        <p:blipFill>
          <a:blip r:embed="rId3"/>
          <a:stretch>
            <a:fillRect/>
          </a:stretch>
        </p:blipFill>
        <p:spPr>
          <a:xfrm>
            <a:off x="567888" y="1578803"/>
            <a:ext cx="6522323" cy="4157594"/>
          </a:xfrm>
          <a:prstGeom prst="rect">
            <a:avLst/>
          </a:prstGeom>
        </p:spPr>
      </p:pic>
      <p:pic>
        <p:nvPicPr>
          <p:cNvPr id="19" name="图片 18">
            <a:extLst>
              <a:ext uri="{FF2B5EF4-FFF2-40B4-BE49-F238E27FC236}">
                <a16:creationId xmlns:a16="http://schemas.microsoft.com/office/drawing/2014/main" id="{4D32D5A5-69B0-4677-0A95-5C1DB2B418A1}"/>
              </a:ext>
            </a:extLst>
          </p:cNvPr>
          <p:cNvPicPr>
            <a:picLocks noChangeAspect="1"/>
          </p:cNvPicPr>
          <p:nvPr/>
        </p:nvPicPr>
        <p:blipFill>
          <a:blip r:embed="rId4"/>
          <a:stretch>
            <a:fillRect/>
          </a:stretch>
        </p:blipFill>
        <p:spPr>
          <a:xfrm>
            <a:off x="7890848" y="1321261"/>
            <a:ext cx="2501816" cy="1637879"/>
          </a:xfrm>
          <a:prstGeom prst="rect">
            <a:avLst/>
          </a:prstGeom>
        </p:spPr>
      </p:pic>
      <p:pic>
        <p:nvPicPr>
          <p:cNvPr id="22" name="图片 21">
            <a:extLst>
              <a:ext uri="{FF2B5EF4-FFF2-40B4-BE49-F238E27FC236}">
                <a16:creationId xmlns:a16="http://schemas.microsoft.com/office/drawing/2014/main" id="{817D0CFE-E523-1E3E-6746-C636E779204E}"/>
              </a:ext>
            </a:extLst>
          </p:cNvPr>
          <p:cNvPicPr>
            <a:picLocks noChangeAspect="1"/>
          </p:cNvPicPr>
          <p:nvPr/>
        </p:nvPicPr>
        <p:blipFill>
          <a:blip r:embed="rId5"/>
          <a:stretch>
            <a:fillRect/>
          </a:stretch>
        </p:blipFill>
        <p:spPr>
          <a:xfrm>
            <a:off x="7771551" y="2976727"/>
            <a:ext cx="2779041" cy="1846718"/>
          </a:xfrm>
          <a:prstGeom prst="rect">
            <a:avLst/>
          </a:prstGeom>
        </p:spPr>
      </p:pic>
      <p:pic>
        <p:nvPicPr>
          <p:cNvPr id="24" name="图片 23">
            <a:extLst>
              <a:ext uri="{FF2B5EF4-FFF2-40B4-BE49-F238E27FC236}">
                <a16:creationId xmlns:a16="http://schemas.microsoft.com/office/drawing/2014/main" id="{CC1C3362-CE3E-D2D8-C8D4-5ECD60084C5C}"/>
              </a:ext>
            </a:extLst>
          </p:cNvPr>
          <p:cNvPicPr>
            <a:picLocks noChangeAspect="1"/>
          </p:cNvPicPr>
          <p:nvPr/>
        </p:nvPicPr>
        <p:blipFill>
          <a:blip r:embed="rId6"/>
          <a:stretch>
            <a:fillRect/>
          </a:stretch>
        </p:blipFill>
        <p:spPr>
          <a:xfrm>
            <a:off x="7843956" y="4986200"/>
            <a:ext cx="2662411" cy="1744959"/>
          </a:xfrm>
          <a:prstGeom prst="rect">
            <a:avLst/>
          </a:prstGeom>
        </p:spPr>
      </p:pic>
    </p:spTree>
    <p:extLst>
      <p:ext uri="{BB962C8B-B14F-4D97-AF65-F5344CB8AC3E}">
        <p14:creationId xmlns:p14="http://schemas.microsoft.com/office/powerpoint/2010/main" val="253456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97D0762B-350A-470C-B9EB-A8498242F015}"/>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RECOMMENDATION</a:t>
            </a:r>
          </a:p>
        </p:txBody>
      </p:sp>
      <p:sp>
        <p:nvSpPr>
          <p:cNvPr id="2" name="矩形 1">
            <a:extLst>
              <a:ext uri="{FF2B5EF4-FFF2-40B4-BE49-F238E27FC236}">
                <a16:creationId xmlns:a16="http://schemas.microsoft.com/office/drawing/2014/main" id="{E445CBDA-0914-42FC-8DAC-12D2BBE77C57}"/>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A top-10% queue is a practical pilot</a:t>
            </a:r>
          </a:p>
        </p:txBody>
      </p:sp>
      <p:sp>
        <p:nvSpPr>
          <p:cNvPr id="3" name="直接连接符 2">
            <a:extLst>
              <a:ext uri="{FF2B5EF4-FFF2-40B4-BE49-F238E27FC236}">
                <a16:creationId xmlns:a16="http://schemas.microsoft.com/office/drawing/2014/main" id="{A7A25ED5-F19F-464C-8896-114376437CEC}"/>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E93FA7A5-A638-4B3E-98E9-8E67BB621D09}"/>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dirty="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C5D8B561-69BF-4DBF-8DD4-2F53D5AD0A7C}"/>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12</a:t>
            </a:r>
          </a:p>
        </p:txBody>
      </p:sp>
      <p:sp>
        <p:nvSpPr>
          <p:cNvPr id="14" name="矩形 13">
            <a:extLst>
              <a:ext uri="{FF2B5EF4-FFF2-40B4-BE49-F238E27FC236}">
                <a16:creationId xmlns:a16="http://schemas.microsoft.com/office/drawing/2014/main" id="{7A34BCC4-A977-4BD6-8154-B0EDD8C44974}"/>
              </a:ext>
            </a:extLst>
          </p:cNvPr>
          <p:cNvSpPr>
            <a:spLocks noGrp="1"/>
          </p:cNvSpPr>
          <p:nvPr/>
        </p:nvSpPr>
        <p:spPr>
          <a:xfrm>
            <a:off x="400050" y="5619750"/>
            <a:ext cx="4572000" cy="552450"/>
          </a:xfrm>
          <a:prstGeom prst="rect">
            <a:avLst/>
          </a:prstGeom>
          <a:noFill/>
          <a:ln w="0">
            <a:noFill/>
            <a:prstDash val="solid"/>
          </a:ln>
        </p:spPr>
        <p:txBody>
          <a:bodyPr wrap="square" lIns="0" tIns="0" rIns="0" bIns="0" anchor="t">
            <a:normAutofit/>
          </a:bodyPr>
          <a:lstStyle/>
          <a:p>
            <a:pPr algn="l">
              <a:lnSpc>
                <a:spcPct val="112000"/>
              </a:lnSpc>
              <a:buNone/>
              <a:defRPr sz="1350" b="0" i="1">
                <a:solidFill>
                  <a:srgbClr val="667085"/>
                </a:solidFill>
                <a:latin typeface="Arial"/>
                <a:ea typeface="Arial"/>
                <a:cs typeface="Arial"/>
              </a:defRPr>
            </a:pPr>
            <a:r>
              <a:rPr sz="1350" b="0" i="1" dirty="0">
                <a:solidFill>
                  <a:srgbClr val="667085"/>
                </a:solidFill>
                <a:latin typeface="Arial"/>
                <a:ea typeface="Arial"/>
                <a:cs typeface="Arial"/>
              </a:rPr>
              <a:t>Held-out test-period result; validate prospectively before operational adoption.</a:t>
            </a:r>
          </a:p>
        </p:txBody>
      </p:sp>
      <p:sp>
        <p:nvSpPr>
          <p:cNvPr id="15" name="矩形 14">
            <a:extLst>
              <a:ext uri="{FF2B5EF4-FFF2-40B4-BE49-F238E27FC236}">
                <a16:creationId xmlns:a16="http://schemas.microsoft.com/office/drawing/2014/main" id="{6A19BFBA-4B21-435B-A23B-CE9C5C476912}"/>
              </a:ext>
            </a:extLst>
          </p:cNvPr>
          <p:cNvSpPr>
            <a:spLocks noGrp="1"/>
          </p:cNvSpPr>
          <p:nvPr/>
        </p:nvSpPr>
        <p:spPr>
          <a:xfrm>
            <a:off x="5753100" y="1600200"/>
            <a:ext cx="5657850" cy="3429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Illustrative top-ranked orders</a:t>
            </a:r>
          </a:p>
        </p:txBody>
      </p:sp>
      <p:graphicFrame>
        <p:nvGraphicFramePr>
          <p:cNvPr id="34" name="表格 33"/>
          <p:cNvGraphicFramePr/>
          <p:nvPr/>
        </p:nvGraphicFramePr>
        <p:xfrm>
          <a:off x="5753100" y="2076450"/>
          <a:ext cx="5657850" cy="2933700"/>
        </p:xfrm>
        <a:graphic>
          <a:graphicData uri="http://schemas.openxmlformats.org/drawingml/2006/table">
            <a:tbl>
              <a:tblPr/>
              <a:tblGrid>
                <a:gridCol w="11430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2647950">
                  <a:extLst>
                    <a:ext uri="{9D8B030D-6E8A-4147-A177-3AD203B41FA5}">
                      <a16:colId xmlns:a16="http://schemas.microsoft.com/office/drawing/2014/main" val="20002"/>
                    </a:ext>
                  </a:extLst>
                </a:gridCol>
              </a:tblGrid>
              <a:tr h="488950">
                <a:tc>
                  <a:txBody>
                    <a:bodyPr/>
                    <a:lstStyle/>
                    <a:p>
                      <a:pPr algn="ctr"/>
                      <a:r>
                        <a:rPr sz="1350" b="1">
                          <a:solidFill>
                            <a:srgbClr val="FFFFFF"/>
                          </a:solidFill>
                          <a:latin typeface="Arial"/>
                          <a:ea typeface="Arial"/>
                          <a:cs typeface="Arial"/>
                        </a:rPr>
                        <a:t>Risk rank</a:t>
                      </a:r>
                    </a:p>
                  </a:txBody>
                  <a:tcPr anchor="ctr">
                    <a:solidFill>
                      <a:srgbClr val="111827"/>
                    </a:solidFill>
                  </a:tcPr>
                </a:tc>
                <a:tc>
                  <a:txBody>
                    <a:bodyPr/>
                    <a:lstStyle/>
                    <a:p>
                      <a:pPr algn="l"/>
                      <a:r>
                        <a:rPr sz="1350" b="1">
                          <a:solidFill>
                            <a:srgbClr val="FFFFFF"/>
                          </a:solidFill>
                          <a:latin typeface="Arial"/>
                          <a:ea typeface="Arial"/>
                          <a:cs typeface="Arial"/>
                        </a:rPr>
                        <a:t>Order Id</a:t>
                      </a:r>
                    </a:p>
                  </a:txBody>
                  <a:tcPr anchor="ctr">
                    <a:solidFill>
                      <a:srgbClr val="111827"/>
                    </a:solidFill>
                  </a:tcPr>
                </a:tc>
                <a:tc>
                  <a:txBody>
                    <a:bodyPr/>
                    <a:lstStyle/>
                    <a:p>
                      <a:pPr algn="l"/>
                      <a:r>
                        <a:rPr sz="1350" b="1">
                          <a:solidFill>
                            <a:srgbClr val="FFFFFF"/>
                          </a:solidFill>
                          <a:latin typeface="Arial"/>
                          <a:ea typeface="Arial"/>
                          <a:cs typeface="Arial"/>
                        </a:rPr>
                        <a:t>Risk score</a:t>
                      </a:r>
                    </a:p>
                  </a:txBody>
                  <a:tcPr anchor="ctr">
                    <a:solidFill>
                      <a:srgbClr val="111827"/>
                    </a:solidFill>
                  </a:tcPr>
                </a:tc>
                <a:extLst>
                  <a:ext uri="{0D108BD9-81ED-4DB2-BD59-A6C34878D82A}">
                    <a16:rowId xmlns:a16="http://schemas.microsoft.com/office/drawing/2014/main" val="10000"/>
                  </a:ext>
                </a:extLst>
              </a:tr>
              <a:tr h="488950">
                <a:tc>
                  <a:txBody>
                    <a:bodyPr/>
                    <a:lstStyle/>
                    <a:p>
                      <a:pPr algn="ctr"/>
                      <a:r>
                        <a:rPr sz="1350" b="0">
                          <a:solidFill>
                            <a:srgbClr val="111827"/>
                          </a:solidFill>
                          <a:latin typeface="Arial"/>
                          <a:ea typeface="Arial"/>
                          <a:cs typeface="Arial"/>
                        </a:rPr>
                        <a:t>1</a:t>
                      </a:r>
                    </a:p>
                  </a:txBody>
                  <a:tcPr anchor="ctr">
                    <a:solidFill>
                      <a:srgbClr val="FFFFFF"/>
                    </a:solidFill>
                  </a:tcPr>
                </a:tc>
                <a:tc>
                  <a:txBody>
                    <a:bodyPr/>
                    <a:lstStyle/>
                    <a:p>
                      <a:pPr algn="l"/>
                      <a:r>
                        <a:rPr sz="1350" b="0">
                          <a:solidFill>
                            <a:srgbClr val="111827"/>
                          </a:solidFill>
                          <a:latin typeface="Arial"/>
                          <a:ea typeface="Arial"/>
                          <a:cs typeface="Arial"/>
                        </a:rPr>
                        <a:t>73312</a:t>
                      </a:r>
                    </a:p>
                  </a:txBody>
                  <a:tcPr anchor="ctr">
                    <a:solidFill>
                      <a:srgbClr val="FFFFFF"/>
                    </a:solidFill>
                  </a:tcPr>
                </a:tc>
                <a:tc>
                  <a:txBody>
                    <a:bodyPr/>
                    <a:lstStyle/>
                    <a:p>
                      <a:pPr algn="l"/>
                      <a:r>
                        <a:rPr sz="1350" b="0">
                          <a:solidFill>
                            <a:srgbClr val="111827"/>
                          </a:solidFill>
                          <a:latin typeface="Arial"/>
                          <a:ea typeface="Arial"/>
                          <a:cs typeface="Arial"/>
                        </a:rPr>
                        <a:t>0.9993170</a:t>
                      </a:r>
                    </a:p>
                  </a:txBody>
                  <a:tcPr anchor="ctr">
                    <a:solidFill>
                      <a:srgbClr val="FFFFFF"/>
                    </a:solidFill>
                  </a:tcPr>
                </a:tc>
                <a:extLst>
                  <a:ext uri="{0D108BD9-81ED-4DB2-BD59-A6C34878D82A}">
                    <a16:rowId xmlns:a16="http://schemas.microsoft.com/office/drawing/2014/main" val="10001"/>
                  </a:ext>
                </a:extLst>
              </a:tr>
              <a:tr h="488950">
                <a:tc>
                  <a:txBody>
                    <a:bodyPr/>
                    <a:lstStyle/>
                    <a:p>
                      <a:pPr algn="ctr"/>
                      <a:r>
                        <a:rPr sz="1350" b="0">
                          <a:solidFill>
                            <a:srgbClr val="111827"/>
                          </a:solidFill>
                          <a:latin typeface="Arial"/>
                          <a:ea typeface="Arial"/>
                          <a:cs typeface="Arial"/>
                        </a:rPr>
                        <a:t>2</a:t>
                      </a:r>
                    </a:p>
                  </a:txBody>
                  <a:tcPr anchor="ctr">
                    <a:solidFill>
                      <a:srgbClr val="F2F4F7"/>
                    </a:solidFill>
                  </a:tcPr>
                </a:tc>
                <a:tc>
                  <a:txBody>
                    <a:bodyPr/>
                    <a:lstStyle/>
                    <a:p>
                      <a:pPr algn="l"/>
                      <a:r>
                        <a:rPr sz="1350" b="0">
                          <a:solidFill>
                            <a:srgbClr val="111827"/>
                          </a:solidFill>
                          <a:latin typeface="Arial"/>
                          <a:ea typeface="Arial"/>
                          <a:cs typeface="Arial"/>
                        </a:rPr>
                        <a:t>73313</a:t>
                      </a:r>
                    </a:p>
                  </a:txBody>
                  <a:tcPr anchor="ctr">
                    <a:solidFill>
                      <a:srgbClr val="F2F4F7"/>
                    </a:solidFill>
                  </a:tcPr>
                </a:tc>
                <a:tc>
                  <a:txBody>
                    <a:bodyPr/>
                    <a:lstStyle/>
                    <a:p>
                      <a:pPr algn="l"/>
                      <a:r>
                        <a:rPr sz="1350" b="0">
                          <a:solidFill>
                            <a:srgbClr val="111827"/>
                          </a:solidFill>
                          <a:latin typeface="Arial"/>
                          <a:ea typeface="Arial"/>
                          <a:cs typeface="Arial"/>
                        </a:rPr>
                        <a:t>0.9993170</a:t>
                      </a:r>
                    </a:p>
                  </a:txBody>
                  <a:tcPr anchor="ctr">
                    <a:solidFill>
                      <a:srgbClr val="F2F4F7"/>
                    </a:solidFill>
                  </a:tcPr>
                </a:tc>
                <a:extLst>
                  <a:ext uri="{0D108BD9-81ED-4DB2-BD59-A6C34878D82A}">
                    <a16:rowId xmlns:a16="http://schemas.microsoft.com/office/drawing/2014/main" val="10002"/>
                  </a:ext>
                </a:extLst>
              </a:tr>
              <a:tr h="488950">
                <a:tc>
                  <a:txBody>
                    <a:bodyPr/>
                    <a:lstStyle/>
                    <a:p>
                      <a:pPr algn="ctr"/>
                      <a:r>
                        <a:rPr sz="1350" b="0">
                          <a:solidFill>
                            <a:srgbClr val="111827"/>
                          </a:solidFill>
                          <a:latin typeface="Arial"/>
                          <a:ea typeface="Arial"/>
                          <a:cs typeface="Arial"/>
                        </a:rPr>
                        <a:t>3</a:t>
                      </a:r>
                    </a:p>
                  </a:txBody>
                  <a:tcPr anchor="ctr">
                    <a:solidFill>
                      <a:srgbClr val="FFFFFF"/>
                    </a:solidFill>
                  </a:tcPr>
                </a:tc>
                <a:tc>
                  <a:txBody>
                    <a:bodyPr/>
                    <a:lstStyle/>
                    <a:p>
                      <a:pPr algn="l"/>
                      <a:r>
                        <a:rPr sz="1350" b="0">
                          <a:solidFill>
                            <a:srgbClr val="111827"/>
                          </a:solidFill>
                          <a:latin typeface="Arial"/>
                          <a:ea typeface="Arial"/>
                          <a:cs typeface="Arial"/>
                        </a:rPr>
                        <a:t>73457</a:t>
                      </a:r>
                    </a:p>
                  </a:txBody>
                  <a:tcPr anchor="ctr">
                    <a:solidFill>
                      <a:srgbClr val="FFFFFF"/>
                    </a:solidFill>
                  </a:tcPr>
                </a:tc>
                <a:tc>
                  <a:txBody>
                    <a:bodyPr/>
                    <a:lstStyle/>
                    <a:p>
                      <a:pPr algn="l"/>
                      <a:r>
                        <a:rPr sz="1350" b="0">
                          <a:solidFill>
                            <a:srgbClr val="111827"/>
                          </a:solidFill>
                          <a:latin typeface="Arial"/>
                          <a:ea typeface="Arial"/>
                          <a:cs typeface="Arial"/>
                        </a:rPr>
                        <a:t>0.9993170</a:t>
                      </a:r>
                    </a:p>
                  </a:txBody>
                  <a:tcPr anchor="ctr">
                    <a:solidFill>
                      <a:srgbClr val="FFFFFF"/>
                    </a:solidFill>
                  </a:tcPr>
                </a:tc>
                <a:extLst>
                  <a:ext uri="{0D108BD9-81ED-4DB2-BD59-A6C34878D82A}">
                    <a16:rowId xmlns:a16="http://schemas.microsoft.com/office/drawing/2014/main" val="10003"/>
                  </a:ext>
                </a:extLst>
              </a:tr>
              <a:tr h="488950">
                <a:tc>
                  <a:txBody>
                    <a:bodyPr/>
                    <a:lstStyle/>
                    <a:p>
                      <a:pPr algn="ctr"/>
                      <a:r>
                        <a:rPr sz="1350" b="0">
                          <a:solidFill>
                            <a:srgbClr val="111827"/>
                          </a:solidFill>
                          <a:latin typeface="Arial"/>
                          <a:ea typeface="Arial"/>
                          <a:cs typeface="Arial"/>
                        </a:rPr>
                        <a:t>4</a:t>
                      </a:r>
                    </a:p>
                  </a:txBody>
                  <a:tcPr anchor="ctr">
                    <a:solidFill>
                      <a:srgbClr val="F2F4F7"/>
                    </a:solidFill>
                  </a:tcPr>
                </a:tc>
                <a:tc>
                  <a:txBody>
                    <a:bodyPr/>
                    <a:lstStyle/>
                    <a:p>
                      <a:pPr algn="l"/>
                      <a:r>
                        <a:rPr sz="1350" b="0">
                          <a:solidFill>
                            <a:srgbClr val="111827"/>
                          </a:solidFill>
                          <a:latin typeface="Arial"/>
                          <a:ea typeface="Arial"/>
                          <a:cs typeface="Arial"/>
                        </a:rPr>
                        <a:t>73226</a:t>
                      </a:r>
                    </a:p>
                  </a:txBody>
                  <a:tcPr anchor="ctr">
                    <a:solidFill>
                      <a:srgbClr val="F2F4F7"/>
                    </a:solidFill>
                  </a:tcPr>
                </a:tc>
                <a:tc>
                  <a:txBody>
                    <a:bodyPr/>
                    <a:lstStyle/>
                    <a:p>
                      <a:pPr algn="l"/>
                      <a:r>
                        <a:rPr sz="1350" b="0">
                          <a:solidFill>
                            <a:srgbClr val="111827"/>
                          </a:solidFill>
                          <a:latin typeface="Arial"/>
                          <a:ea typeface="Arial"/>
                          <a:cs typeface="Arial"/>
                        </a:rPr>
                        <a:t>0.9993170</a:t>
                      </a:r>
                    </a:p>
                  </a:txBody>
                  <a:tcPr anchor="ctr">
                    <a:solidFill>
                      <a:srgbClr val="F2F4F7"/>
                    </a:solidFill>
                  </a:tcPr>
                </a:tc>
                <a:extLst>
                  <a:ext uri="{0D108BD9-81ED-4DB2-BD59-A6C34878D82A}">
                    <a16:rowId xmlns:a16="http://schemas.microsoft.com/office/drawing/2014/main" val="10004"/>
                  </a:ext>
                </a:extLst>
              </a:tr>
              <a:tr h="488950">
                <a:tc>
                  <a:txBody>
                    <a:bodyPr/>
                    <a:lstStyle/>
                    <a:p>
                      <a:pPr algn="ctr"/>
                      <a:r>
                        <a:rPr sz="1350" b="0">
                          <a:solidFill>
                            <a:srgbClr val="111827"/>
                          </a:solidFill>
                          <a:latin typeface="Arial"/>
                          <a:ea typeface="Arial"/>
                          <a:cs typeface="Arial"/>
                        </a:rPr>
                        <a:t>5</a:t>
                      </a:r>
                    </a:p>
                  </a:txBody>
                  <a:tcPr anchor="ctr">
                    <a:solidFill>
                      <a:srgbClr val="FFFFFF"/>
                    </a:solidFill>
                  </a:tcPr>
                </a:tc>
                <a:tc>
                  <a:txBody>
                    <a:bodyPr/>
                    <a:lstStyle/>
                    <a:p>
                      <a:pPr algn="l"/>
                      <a:r>
                        <a:rPr sz="1350" b="0">
                          <a:solidFill>
                            <a:srgbClr val="111827"/>
                          </a:solidFill>
                          <a:latin typeface="Arial"/>
                          <a:ea typeface="Arial"/>
                          <a:cs typeface="Arial"/>
                        </a:rPr>
                        <a:t>73245</a:t>
                      </a:r>
                    </a:p>
                  </a:txBody>
                  <a:tcPr anchor="ctr">
                    <a:solidFill>
                      <a:srgbClr val="FFFFFF"/>
                    </a:solidFill>
                  </a:tcPr>
                </a:tc>
                <a:tc>
                  <a:txBody>
                    <a:bodyPr/>
                    <a:lstStyle/>
                    <a:p>
                      <a:pPr algn="l"/>
                      <a:r>
                        <a:rPr sz="1350" b="0">
                          <a:solidFill>
                            <a:srgbClr val="111827"/>
                          </a:solidFill>
                          <a:latin typeface="Arial"/>
                          <a:ea typeface="Arial"/>
                          <a:cs typeface="Arial"/>
                        </a:rPr>
                        <a:t>0.9993170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17" name="矩形: 圆角 16">
            <a:extLst>
              <a:ext uri="{FF2B5EF4-FFF2-40B4-BE49-F238E27FC236}">
                <a16:creationId xmlns:a16="http://schemas.microsoft.com/office/drawing/2014/main" id="{62695466-63FF-4AF5-9157-59E5B4A1CCB2}"/>
              </a:ext>
            </a:extLst>
          </p:cNvPr>
          <p:cNvSpPr>
            <a:spLocks noGrp="1"/>
          </p:cNvSpPr>
          <p:nvPr/>
        </p:nvSpPr>
        <p:spPr>
          <a:xfrm>
            <a:off x="5753100" y="5276850"/>
            <a:ext cx="5657850" cy="762000"/>
          </a:xfrm>
          <a:prstGeom prst="roundRect">
            <a:avLst>
              <a:gd name="adj" fmla="val 15000"/>
            </a:avLst>
          </a:prstGeom>
          <a:solidFill>
            <a:srgbClr val="EFF8FF"/>
          </a:solidFill>
          <a:ln w="0">
            <a:solidFill>
              <a:srgbClr val="F2F4F7"/>
            </a:solidFill>
            <a:prstDash val="solid"/>
          </a:ln>
        </p:spPr>
        <p:txBody>
          <a:bodyPr/>
          <a:lstStyle/>
          <a:p>
            <a:endParaRPr lang="zh-CN" altLang="en-US"/>
          </a:p>
        </p:txBody>
      </p:sp>
      <p:sp>
        <p:nvSpPr>
          <p:cNvPr id="18" name="矩形 17">
            <a:extLst>
              <a:ext uri="{FF2B5EF4-FFF2-40B4-BE49-F238E27FC236}">
                <a16:creationId xmlns:a16="http://schemas.microsoft.com/office/drawing/2014/main" id="{C3550D2F-11B2-4594-A084-0F3DAA6453C1}"/>
              </a:ext>
            </a:extLst>
          </p:cNvPr>
          <p:cNvSpPr>
            <a:spLocks noGrp="1"/>
          </p:cNvSpPr>
          <p:nvPr/>
        </p:nvSpPr>
        <p:spPr>
          <a:xfrm>
            <a:off x="6000750" y="5467350"/>
            <a:ext cx="5162550" cy="419100"/>
          </a:xfrm>
          <a:prstGeom prst="rect">
            <a:avLst/>
          </a:prstGeom>
          <a:noFill/>
          <a:ln w="0">
            <a:noFill/>
            <a:prstDash val="solid"/>
          </a:ln>
        </p:spPr>
        <p:txBody>
          <a:bodyPr wrap="square" lIns="0" tIns="0" rIns="0" bIns="0" anchor="t">
            <a:normAutofit fontScale="99396" lnSpcReduction="10000"/>
          </a:bodyPr>
          <a:lstStyle/>
          <a:p>
            <a:pPr algn="ctr">
              <a:lnSpc>
                <a:spcPct val="105000"/>
              </a:lnSpc>
              <a:buNone/>
              <a:defRPr sz="1425" b="0" i="0">
                <a:solidFill>
                  <a:srgbClr val="111827"/>
                </a:solidFill>
                <a:latin typeface="Arial"/>
                <a:ea typeface="Arial"/>
                <a:cs typeface="Arial"/>
              </a:defRPr>
            </a:pPr>
            <a:r>
              <a:rPr sz="1425" b="0" i="0">
                <a:solidFill>
                  <a:srgbClr val="111827"/>
                </a:solidFill>
                <a:latin typeface="Arial"/>
                <a:ea typeface="Arial"/>
                <a:cs typeface="Arial"/>
              </a:rPr>
              <a:t>Rank first; use Order Id only for traceability and deterministic tie-breaking.</a:t>
            </a:r>
          </a:p>
        </p:txBody>
      </p:sp>
      <p:pic>
        <p:nvPicPr>
          <p:cNvPr id="20" name="图片 19">
            <a:extLst>
              <a:ext uri="{FF2B5EF4-FFF2-40B4-BE49-F238E27FC236}">
                <a16:creationId xmlns:a16="http://schemas.microsoft.com/office/drawing/2014/main" id="{1A0D93D3-17F6-7FAE-CBF0-1174126CEB31}"/>
              </a:ext>
            </a:extLst>
          </p:cNvPr>
          <p:cNvPicPr>
            <a:picLocks noChangeAspect="1"/>
          </p:cNvPicPr>
          <p:nvPr/>
        </p:nvPicPr>
        <p:blipFill>
          <a:blip r:embed="rId3"/>
          <a:stretch>
            <a:fillRect/>
          </a:stretch>
        </p:blipFill>
        <p:spPr>
          <a:xfrm>
            <a:off x="507849" y="2076450"/>
            <a:ext cx="4075466" cy="2933701"/>
          </a:xfrm>
          <a:prstGeom prst="rect">
            <a:avLst/>
          </a:prstGeom>
        </p:spPr>
      </p:pic>
    </p:spTree>
    <p:extLst>
      <p:ext uri="{BB962C8B-B14F-4D97-AF65-F5344CB8AC3E}">
        <p14:creationId xmlns:p14="http://schemas.microsoft.com/office/powerpoint/2010/main" val="2030684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CBFF3FB7-DC2E-4CA1-8B8C-D0B5D24C6D93}"/>
              </a:ext>
            </a:extLst>
          </p:cNvPr>
          <p:cNvSpPr>
            <a:spLocks noGrp="1"/>
          </p:cNvSpPr>
          <p:nvPr/>
        </p:nvSpPr>
        <p:spPr>
          <a:xfrm>
            <a:off x="400050" y="133350"/>
            <a:ext cx="3429000" cy="228600"/>
          </a:xfrm>
          <a:prstGeom prst="rect">
            <a:avLst/>
          </a:prstGeom>
          <a:noFill/>
          <a:ln w="0">
            <a:noFill/>
            <a:prstDash val="solid"/>
          </a:ln>
        </p:spPr>
        <p:txBody>
          <a:bodyPr wrap="square" lIns="0" tIns="0" rIns="0" bIns="0" anchor="t">
            <a:no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ACTION AND LIMITATIONS</a:t>
            </a:r>
          </a:p>
        </p:txBody>
      </p:sp>
      <p:sp>
        <p:nvSpPr>
          <p:cNvPr id="2" name="矩形 1">
            <a:extLst>
              <a:ext uri="{FF2B5EF4-FFF2-40B4-BE49-F238E27FC236}">
                <a16:creationId xmlns:a16="http://schemas.microsoft.com/office/drawing/2014/main" id="{473C7D6C-154B-43ED-81E0-82E1E6432545}"/>
              </a:ext>
            </a:extLst>
          </p:cNvPr>
          <p:cNvSpPr>
            <a:spLocks noGrp="1"/>
          </p:cNvSpPr>
          <p:nvPr/>
        </p:nvSpPr>
        <p:spPr>
          <a:xfrm>
            <a:off x="400050" y="590550"/>
            <a:ext cx="11391900" cy="533400"/>
          </a:xfrm>
          <a:prstGeom prst="rect">
            <a:avLst/>
          </a:prstGeom>
          <a:noFill/>
          <a:ln w="0">
            <a:noFill/>
            <a:prstDash val="solid"/>
          </a:ln>
        </p:spPr>
        <p:txBody>
          <a:bodyPr wrap="square" lIns="0" tIns="0" rIns="0" bIns="0" anchor="t">
            <a:normAutofit fontScale="92593"/>
          </a:bodyPr>
          <a:lstStyle/>
          <a:p>
            <a:pPr algn="l">
              <a:lnSpc>
                <a:spcPct val="105000"/>
              </a:lnSpc>
              <a:buNone/>
              <a:defRPr sz="3600" b="1" i="0">
                <a:solidFill>
                  <a:srgbClr val="111827"/>
                </a:solidFill>
                <a:latin typeface="Arial"/>
                <a:ea typeface="Arial"/>
                <a:cs typeface="Arial"/>
              </a:defRPr>
            </a:pPr>
            <a:r>
              <a:rPr sz="3600" b="1" i="0">
                <a:solidFill>
                  <a:srgbClr val="111827"/>
                </a:solidFill>
                <a:latin typeface="Arial"/>
                <a:ea typeface="Arial"/>
                <a:cs typeface="Arial"/>
              </a:rPr>
              <a:t>Start with a controlled pilot and live validation</a:t>
            </a:r>
          </a:p>
        </p:txBody>
      </p:sp>
      <p:sp>
        <p:nvSpPr>
          <p:cNvPr id="3" name="直接连接符 2">
            <a:extLst>
              <a:ext uri="{FF2B5EF4-FFF2-40B4-BE49-F238E27FC236}">
                <a16:creationId xmlns:a16="http://schemas.microsoft.com/office/drawing/2014/main" id="{2E0694C2-AD8C-4AEA-9A6C-7CF8ECD7F75C}"/>
              </a:ext>
            </a:extLst>
          </p:cNvPr>
          <p:cNvSpPr>
            <a:spLocks noGrp="1"/>
          </p:cNvSpPr>
          <p:nvPr/>
        </p:nvSpPr>
        <p:spPr>
          <a:xfrm>
            <a:off x="400050" y="1257300"/>
            <a:ext cx="11391900" cy="0"/>
          </a:xfrm>
          <a:prstGeom prst="line">
            <a:avLst/>
          </a:prstGeom>
          <a:noFill/>
          <a:ln w="9525">
            <a:solidFill>
              <a:srgbClr val="D0D5DD"/>
            </a:solidFill>
            <a:prstDash val="solid"/>
          </a:ln>
        </p:spPr>
        <p:txBody>
          <a:bodyPr/>
          <a:lstStyle/>
          <a:p>
            <a:endParaRPr lang="zh-CN" altLang="en-US"/>
          </a:p>
        </p:txBody>
      </p:sp>
      <p:sp>
        <p:nvSpPr>
          <p:cNvPr id="4" name="矩形 3">
            <a:extLst>
              <a:ext uri="{FF2B5EF4-FFF2-40B4-BE49-F238E27FC236}">
                <a16:creationId xmlns:a16="http://schemas.microsoft.com/office/drawing/2014/main" id="{13E27482-4B32-4EAC-9414-23921298D8CD}"/>
              </a:ext>
            </a:extLst>
          </p:cNvPr>
          <p:cNvSpPr>
            <a:spLocks noGrp="1"/>
          </p:cNvSpPr>
          <p:nvPr/>
        </p:nvSpPr>
        <p:spPr>
          <a:xfrm>
            <a:off x="400050" y="6372225"/>
            <a:ext cx="4000500" cy="209550"/>
          </a:xfrm>
          <a:prstGeom prst="rect">
            <a:avLst/>
          </a:prstGeom>
          <a:noFill/>
          <a:ln w="0">
            <a:noFill/>
            <a:prstDash val="solid"/>
          </a:ln>
        </p:spPr>
        <p:txBody>
          <a:bodyPr wrap="square" lIns="0" tIns="0" rIns="0" bIns="0" anchor="b">
            <a:noAutofit/>
          </a:bodyPr>
          <a:lstStyle/>
          <a:p>
            <a:pPr algn="l">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Delivery risk review | Portfolio case study</a:t>
            </a:r>
          </a:p>
        </p:txBody>
      </p:sp>
      <p:sp>
        <p:nvSpPr>
          <p:cNvPr id="5" name="矩形 4">
            <a:extLst>
              <a:ext uri="{FF2B5EF4-FFF2-40B4-BE49-F238E27FC236}">
                <a16:creationId xmlns:a16="http://schemas.microsoft.com/office/drawing/2014/main" id="{5A64138F-25E3-442D-B844-BB5FACA72EFE}"/>
              </a:ext>
            </a:extLst>
          </p:cNvPr>
          <p:cNvSpPr>
            <a:spLocks noGrp="1"/>
          </p:cNvSpPr>
          <p:nvPr/>
        </p:nvSpPr>
        <p:spPr>
          <a:xfrm>
            <a:off x="11239500" y="6372225"/>
            <a:ext cx="552450" cy="209550"/>
          </a:xfrm>
          <a:prstGeom prst="rect">
            <a:avLst/>
          </a:prstGeom>
          <a:noFill/>
          <a:ln w="0">
            <a:noFill/>
            <a:prstDash val="solid"/>
          </a:ln>
        </p:spPr>
        <p:txBody>
          <a:bodyPr wrap="square" lIns="0" tIns="0" rIns="0" bIns="0" anchor="b">
            <a:noAutofit/>
          </a:bodyPr>
          <a:lstStyle/>
          <a:p>
            <a:pPr algn="r">
              <a:lnSpc>
                <a:spcPct val="105000"/>
              </a:lnSpc>
              <a:buNone/>
              <a:defRPr sz="1050" b="0" i="0">
                <a:solidFill>
                  <a:srgbClr val="667085"/>
                </a:solidFill>
                <a:latin typeface="Arial"/>
                <a:ea typeface="Arial"/>
                <a:cs typeface="Arial"/>
              </a:defRPr>
            </a:pPr>
            <a:r>
              <a:rPr sz="1050" b="0" i="0">
                <a:solidFill>
                  <a:srgbClr val="667085"/>
                </a:solidFill>
                <a:latin typeface="Arial"/>
                <a:ea typeface="Arial"/>
                <a:cs typeface="Arial"/>
              </a:rPr>
              <a:t>13</a:t>
            </a:r>
          </a:p>
        </p:txBody>
      </p:sp>
      <p:sp>
        <p:nvSpPr>
          <p:cNvPr id="6" name="直接连接符 5">
            <a:extLst>
              <a:ext uri="{FF2B5EF4-FFF2-40B4-BE49-F238E27FC236}">
                <a16:creationId xmlns:a16="http://schemas.microsoft.com/office/drawing/2014/main" id="{2EFDAA56-1538-4CEC-91BA-809234580EEB}"/>
              </a:ext>
            </a:extLst>
          </p:cNvPr>
          <p:cNvSpPr>
            <a:spLocks noGrp="1"/>
          </p:cNvSpPr>
          <p:nvPr/>
        </p:nvSpPr>
        <p:spPr>
          <a:xfrm>
            <a:off x="971550" y="2533650"/>
            <a:ext cx="6648450" cy="0"/>
          </a:xfrm>
          <a:prstGeom prst="line">
            <a:avLst/>
          </a:prstGeom>
          <a:noFill/>
          <a:ln w="28575">
            <a:solidFill>
              <a:srgbClr val="D0D5DD"/>
            </a:solidFill>
            <a:prstDash val="solid"/>
          </a:ln>
        </p:spPr>
        <p:txBody>
          <a:bodyPr/>
          <a:lstStyle/>
          <a:p>
            <a:endParaRPr lang="zh-CN" altLang="en-US"/>
          </a:p>
        </p:txBody>
      </p:sp>
      <p:sp>
        <p:nvSpPr>
          <p:cNvPr id="7" name="椭圆 6">
            <a:extLst>
              <a:ext uri="{FF2B5EF4-FFF2-40B4-BE49-F238E27FC236}">
                <a16:creationId xmlns:a16="http://schemas.microsoft.com/office/drawing/2014/main" id="{E1C9CE2D-51E8-49FB-A6DF-B5AE17D2E615}"/>
              </a:ext>
            </a:extLst>
          </p:cNvPr>
          <p:cNvSpPr>
            <a:spLocks noGrp="1"/>
          </p:cNvSpPr>
          <p:nvPr/>
        </p:nvSpPr>
        <p:spPr>
          <a:xfrm>
            <a:off x="990600" y="2428875"/>
            <a:ext cx="209550" cy="209550"/>
          </a:xfrm>
          <a:prstGeom prst="ellipse">
            <a:avLst/>
          </a:prstGeom>
          <a:solidFill>
            <a:srgbClr val="3D8DFF"/>
          </a:solidFill>
          <a:ln w="0">
            <a:solidFill>
              <a:srgbClr val="3D8DFF"/>
            </a:solidFill>
            <a:prstDash val="solid"/>
          </a:ln>
        </p:spPr>
        <p:txBody>
          <a:bodyPr/>
          <a:lstStyle/>
          <a:p>
            <a:endParaRPr lang="zh-CN" altLang="en-US"/>
          </a:p>
        </p:txBody>
      </p:sp>
      <p:sp>
        <p:nvSpPr>
          <p:cNvPr id="8" name="椭圆 7">
            <a:extLst>
              <a:ext uri="{FF2B5EF4-FFF2-40B4-BE49-F238E27FC236}">
                <a16:creationId xmlns:a16="http://schemas.microsoft.com/office/drawing/2014/main" id="{C79086CF-7B7B-430F-9F71-7AA87388A883}"/>
              </a:ext>
            </a:extLst>
          </p:cNvPr>
          <p:cNvSpPr>
            <a:spLocks noGrp="1"/>
          </p:cNvSpPr>
          <p:nvPr/>
        </p:nvSpPr>
        <p:spPr>
          <a:xfrm>
            <a:off x="3371850" y="2428875"/>
            <a:ext cx="209550" cy="209550"/>
          </a:xfrm>
          <a:prstGeom prst="ellipse">
            <a:avLst/>
          </a:prstGeom>
          <a:solidFill>
            <a:srgbClr val="3D8DFF"/>
          </a:solidFill>
          <a:ln w="0">
            <a:solidFill>
              <a:srgbClr val="3D8DFF"/>
            </a:solidFill>
            <a:prstDash val="solid"/>
          </a:ln>
        </p:spPr>
        <p:txBody>
          <a:bodyPr/>
          <a:lstStyle/>
          <a:p>
            <a:endParaRPr lang="zh-CN" altLang="en-US"/>
          </a:p>
        </p:txBody>
      </p:sp>
      <p:sp>
        <p:nvSpPr>
          <p:cNvPr id="9" name="椭圆 8">
            <a:extLst>
              <a:ext uri="{FF2B5EF4-FFF2-40B4-BE49-F238E27FC236}">
                <a16:creationId xmlns:a16="http://schemas.microsoft.com/office/drawing/2014/main" id="{05F86BD9-DC9E-4C47-8032-D8C8724EAF43}"/>
              </a:ext>
            </a:extLst>
          </p:cNvPr>
          <p:cNvSpPr>
            <a:spLocks noGrp="1"/>
          </p:cNvSpPr>
          <p:nvPr/>
        </p:nvSpPr>
        <p:spPr>
          <a:xfrm>
            <a:off x="5753100" y="2428875"/>
            <a:ext cx="209550" cy="209550"/>
          </a:xfrm>
          <a:prstGeom prst="ellipse">
            <a:avLst/>
          </a:prstGeom>
          <a:solidFill>
            <a:srgbClr val="3D8DFF"/>
          </a:solidFill>
          <a:ln w="0">
            <a:solidFill>
              <a:srgbClr val="3D8DFF"/>
            </a:solidFill>
            <a:prstDash val="solid"/>
          </a:ln>
        </p:spPr>
        <p:txBody>
          <a:bodyPr/>
          <a:lstStyle/>
          <a:p>
            <a:endParaRPr lang="zh-CN" altLang="en-US"/>
          </a:p>
        </p:txBody>
      </p:sp>
      <p:sp>
        <p:nvSpPr>
          <p:cNvPr id="10" name="矩形 9">
            <a:extLst>
              <a:ext uri="{FF2B5EF4-FFF2-40B4-BE49-F238E27FC236}">
                <a16:creationId xmlns:a16="http://schemas.microsoft.com/office/drawing/2014/main" id="{C094F21B-3097-496D-882E-BBEC68B0946B}"/>
              </a:ext>
            </a:extLst>
          </p:cNvPr>
          <p:cNvSpPr>
            <a:spLocks noGrp="1"/>
          </p:cNvSpPr>
          <p:nvPr/>
        </p:nvSpPr>
        <p:spPr>
          <a:xfrm>
            <a:off x="685800" y="1771650"/>
            <a:ext cx="200025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STEP 1</a:t>
            </a:r>
          </a:p>
        </p:txBody>
      </p:sp>
      <p:sp>
        <p:nvSpPr>
          <p:cNvPr id="11" name="矩形 10">
            <a:extLst>
              <a:ext uri="{FF2B5EF4-FFF2-40B4-BE49-F238E27FC236}">
                <a16:creationId xmlns:a16="http://schemas.microsoft.com/office/drawing/2014/main" id="{5E15B633-E2EA-462D-A9CB-4DE4D55AD779}"/>
              </a:ext>
            </a:extLst>
          </p:cNvPr>
          <p:cNvSpPr>
            <a:spLocks noGrp="1"/>
          </p:cNvSpPr>
          <p:nvPr/>
        </p:nvSpPr>
        <p:spPr>
          <a:xfrm>
            <a:off x="685800" y="2914650"/>
            <a:ext cx="2000250" cy="400050"/>
          </a:xfrm>
          <a:prstGeom prst="rect">
            <a:avLst/>
          </a:prstGeom>
          <a:noFill/>
          <a:ln w="0">
            <a:noFill/>
            <a:prstDash val="solid"/>
          </a:ln>
        </p:spPr>
        <p:txBody>
          <a:bodyPr wrap="square" lIns="0" tIns="0" rIns="0" bIns="0" anchor="t">
            <a:normAutofit/>
          </a:bodyPr>
          <a:lstStyle/>
          <a:p>
            <a:pPr algn="l">
              <a:lnSpc>
                <a:spcPct val="105000"/>
              </a:lnSpc>
              <a:buNone/>
              <a:defRPr sz="2025" b="1" i="0">
                <a:solidFill>
                  <a:srgbClr val="111827"/>
                </a:solidFill>
                <a:latin typeface="Arial"/>
                <a:ea typeface="Arial"/>
                <a:cs typeface="Arial"/>
              </a:defRPr>
            </a:pPr>
            <a:r>
              <a:rPr sz="2025" b="1" i="0">
                <a:solidFill>
                  <a:srgbClr val="111827"/>
                </a:solidFill>
                <a:latin typeface="Arial"/>
                <a:ea typeface="Arial"/>
                <a:cs typeface="Arial"/>
              </a:rPr>
              <a:t>Run the queue</a:t>
            </a:r>
          </a:p>
        </p:txBody>
      </p:sp>
      <p:sp>
        <p:nvSpPr>
          <p:cNvPr id="12" name="矩形 11">
            <a:extLst>
              <a:ext uri="{FF2B5EF4-FFF2-40B4-BE49-F238E27FC236}">
                <a16:creationId xmlns:a16="http://schemas.microsoft.com/office/drawing/2014/main" id="{32B30CD7-5123-401A-9D3B-230BA8304FE0}"/>
              </a:ext>
            </a:extLst>
          </p:cNvPr>
          <p:cNvSpPr>
            <a:spLocks noGrp="1"/>
          </p:cNvSpPr>
          <p:nvPr/>
        </p:nvSpPr>
        <p:spPr>
          <a:xfrm>
            <a:off x="685800" y="3467100"/>
            <a:ext cx="2000250" cy="1123950"/>
          </a:xfrm>
          <a:prstGeom prst="rect">
            <a:avLst/>
          </a:prstGeom>
          <a:noFill/>
          <a:ln w="0">
            <a:noFill/>
            <a:prstDash val="solid"/>
          </a:ln>
        </p:spPr>
        <p:txBody>
          <a:bodyPr wrap="square" lIns="0" tIns="0" rIns="0" bIns="0" anchor="t">
            <a:normAutofit/>
          </a:bodyPr>
          <a:lstStyle/>
          <a:p>
            <a:pPr algn="l">
              <a:lnSpc>
                <a:spcPct val="114000"/>
              </a:lnSpc>
              <a:buNone/>
              <a:defRPr sz="1500" b="0" i="0">
                <a:solidFill>
                  <a:srgbClr val="667085"/>
                </a:solidFill>
                <a:latin typeface="Arial"/>
                <a:ea typeface="Arial"/>
                <a:cs typeface="Arial"/>
              </a:defRPr>
            </a:pPr>
            <a:r>
              <a:rPr sz="1500" b="0" i="0">
                <a:solidFill>
                  <a:srgbClr val="667085"/>
                </a:solidFill>
                <a:latin typeface="Arial"/>
                <a:ea typeface="Arial"/>
                <a:cs typeface="Arial"/>
              </a:rPr>
              <a:t>Generate the weekly top-10% ranking from order-creation fields.</a:t>
            </a:r>
          </a:p>
        </p:txBody>
      </p:sp>
      <p:sp>
        <p:nvSpPr>
          <p:cNvPr id="13" name="矩形 12">
            <a:extLst>
              <a:ext uri="{FF2B5EF4-FFF2-40B4-BE49-F238E27FC236}">
                <a16:creationId xmlns:a16="http://schemas.microsoft.com/office/drawing/2014/main" id="{DA82AC26-F1B2-4980-A86D-230B5EE531A3}"/>
              </a:ext>
            </a:extLst>
          </p:cNvPr>
          <p:cNvSpPr>
            <a:spLocks noGrp="1"/>
          </p:cNvSpPr>
          <p:nvPr/>
        </p:nvSpPr>
        <p:spPr>
          <a:xfrm>
            <a:off x="3067050" y="1771650"/>
            <a:ext cx="200025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STEP 2</a:t>
            </a:r>
          </a:p>
        </p:txBody>
      </p:sp>
      <p:sp>
        <p:nvSpPr>
          <p:cNvPr id="14" name="矩形 13">
            <a:extLst>
              <a:ext uri="{FF2B5EF4-FFF2-40B4-BE49-F238E27FC236}">
                <a16:creationId xmlns:a16="http://schemas.microsoft.com/office/drawing/2014/main" id="{4E8802C4-FE53-4490-8A89-634C1C6B8066}"/>
              </a:ext>
            </a:extLst>
          </p:cNvPr>
          <p:cNvSpPr>
            <a:spLocks noGrp="1"/>
          </p:cNvSpPr>
          <p:nvPr/>
        </p:nvSpPr>
        <p:spPr>
          <a:xfrm>
            <a:off x="3067050" y="2914650"/>
            <a:ext cx="2000250" cy="400050"/>
          </a:xfrm>
          <a:prstGeom prst="rect">
            <a:avLst/>
          </a:prstGeom>
          <a:noFill/>
          <a:ln w="0">
            <a:noFill/>
            <a:prstDash val="solid"/>
          </a:ln>
        </p:spPr>
        <p:txBody>
          <a:bodyPr wrap="square" lIns="0" tIns="0" rIns="0" bIns="0" anchor="t">
            <a:normAutofit fontScale="89698"/>
          </a:bodyPr>
          <a:lstStyle/>
          <a:p>
            <a:pPr algn="l">
              <a:lnSpc>
                <a:spcPct val="105000"/>
              </a:lnSpc>
              <a:buNone/>
              <a:defRPr sz="2025" b="1" i="0">
                <a:solidFill>
                  <a:srgbClr val="111827"/>
                </a:solidFill>
                <a:latin typeface="Arial"/>
                <a:ea typeface="Arial"/>
                <a:cs typeface="Arial"/>
              </a:defRPr>
            </a:pPr>
            <a:r>
              <a:rPr sz="2025" b="1" i="0">
                <a:solidFill>
                  <a:srgbClr val="111827"/>
                </a:solidFill>
                <a:latin typeface="Arial"/>
                <a:ea typeface="Arial"/>
                <a:cs typeface="Arial"/>
              </a:rPr>
              <a:t>Monitor outcomes</a:t>
            </a:r>
          </a:p>
        </p:txBody>
      </p:sp>
      <p:sp>
        <p:nvSpPr>
          <p:cNvPr id="15" name="矩形 14">
            <a:extLst>
              <a:ext uri="{FF2B5EF4-FFF2-40B4-BE49-F238E27FC236}">
                <a16:creationId xmlns:a16="http://schemas.microsoft.com/office/drawing/2014/main" id="{B64DBFDC-0B6E-46B7-B6A8-705BCFED50B6}"/>
              </a:ext>
            </a:extLst>
          </p:cNvPr>
          <p:cNvSpPr>
            <a:spLocks noGrp="1"/>
          </p:cNvSpPr>
          <p:nvPr/>
        </p:nvSpPr>
        <p:spPr>
          <a:xfrm>
            <a:off x="3067050" y="3467100"/>
            <a:ext cx="2000250" cy="1123950"/>
          </a:xfrm>
          <a:prstGeom prst="rect">
            <a:avLst/>
          </a:prstGeom>
          <a:noFill/>
          <a:ln w="0">
            <a:noFill/>
            <a:prstDash val="solid"/>
          </a:ln>
        </p:spPr>
        <p:txBody>
          <a:bodyPr wrap="square" lIns="0" tIns="0" rIns="0" bIns="0" anchor="t">
            <a:normAutofit/>
          </a:bodyPr>
          <a:lstStyle/>
          <a:p>
            <a:pPr algn="l">
              <a:lnSpc>
                <a:spcPct val="114000"/>
              </a:lnSpc>
              <a:buNone/>
              <a:defRPr sz="1500" b="0" i="0">
                <a:solidFill>
                  <a:srgbClr val="667085"/>
                </a:solidFill>
                <a:latin typeface="Arial"/>
                <a:ea typeface="Arial"/>
                <a:cs typeface="Arial"/>
              </a:defRPr>
            </a:pPr>
            <a:r>
              <a:rPr sz="1500" b="0" i="0">
                <a:solidFill>
                  <a:srgbClr val="667085"/>
                </a:solidFill>
                <a:latin typeface="Arial"/>
                <a:ea typeface="Arial"/>
                <a:cs typeface="Arial"/>
              </a:rPr>
              <a:t>Track workload, precision, recall, and reviewer actions.</a:t>
            </a:r>
          </a:p>
        </p:txBody>
      </p:sp>
      <p:sp>
        <p:nvSpPr>
          <p:cNvPr id="16" name="矩形 15">
            <a:extLst>
              <a:ext uri="{FF2B5EF4-FFF2-40B4-BE49-F238E27FC236}">
                <a16:creationId xmlns:a16="http://schemas.microsoft.com/office/drawing/2014/main" id="{D881CDEF-EA50-46C6-AC22-22ABACFFF667}"/>
              </a:ext>
            </a:extLst>
          </p:cNvPr>
          <p:cNvSpPr>
            <a:spLocks noGrp="1"/>
          </p:cNvSpPr>
          <p:nvPr/>
        </p:nvSpPr>
        <p:spPr>
          <a:xfrm>
            <a:off x="5448300" y="1771650"/>
            <a:ext cx="200025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STEP 3</a:t>
            </a:r>
          </a:p>
        </p:txBody>
      </p:sp>
      <p:sp>
        <p:nvSpPr>
          <p:cNvPr id="17" name="矩形 16">
            <a:extLst>
              <a:ext uri="{FF2B5EF4-FFF2-40B4-BE49-F238E27FC236}">
                <a16:creationId xmlns:a16="http://schemas.microsoft.com/office/drawing/2014/main" id="{18223AD2-4C5A-4FFE-A9B1-6E12C3524B93}"/>
              </a:ext>
            </a:extLst>
          </p:cNvPr>
          <p:cNvSpPr>
            <a:spLocks noGrp="1"/>
          </p:cNvSpPr>
          <p:nvPr/>
        </p:nvSpPr>
        <p:spPr>
          <a:xfrm>
            <a:off x="5448300" y="2914650"/>
            <a:ext cx="2000250" cy="400050"/>
          </a:xfrm>
          <a:prstGeom prst="rect">
            <a:avLst/>
          </a:prstGeom>
          <a:noFill/>
          <a:ln w="0">
            <a:noFill/>
            <a:prstDash val="solid"/>
          </a:ln>
        </p:spPr>
        <p:txBody>
          <a:bodyPr wrap="square" lIns="0" tIns="0" rIns="0" bIns="0" anchor="t">
            <a:normAutofit fontScale="79943" lnSpcReduction="10000"/>
          </a:bodyPr>
          <a:lstStyle/>
          <a:p>
            <a:pPr algn="l">
              <a:lnSpc>
                <a:spcPct val="105000"/>
              </a:lnSpc>
              <a:buNone/>
              <a:defRPr sz="2025" b="1" i="0">
                <a:solidFill>
                  <a:srgbClr val="111827"/>
                </a:solidFill>
                <a:latin typeface="Arial"/>
                <a:ea typeface="Arial"/>
                <a:cs typeface="Arial"/>
              </a:defRPr>
            </a:pPr>
            <a:r>
              <a:rPr sz="2025" b="1" i="0">
                <a:solidFill>
                  <a:srgbClr val="111827"/>
                </a:solidFill>
                <a:latin typeface="Arial"/>
                <a:ea typeface="Arial"/>
                <a:cs typeface="Arial"/>
              </a:rPr>
              <a:t>Validate and refine</a:t>
            </a:r>
          </a:p>
        </p:txBody>
      </p:sp>
      <p:sp>
        <p:nvSpPr>
          <p:cNvPr id="18" name="矩形 17">
            <a:extLst>
              <a:ext uri="{FF2B5EF4-FFF2-40B4-BE49-F238E27FC236}">
                <a16:creationId xmlns:a16="http://schemas.microsoft.com/office/drawing/2014/main" id="{708D1ED4-EDBF-43D2-9FFA-5F043BA3AE7E}"/>
              </a:ext>
            </a:extLst>
          </p:cNvPr>
          <p:cNvSpPr>
            <a:spLocks noGrp="1"/>
          </p:cNvSpPr>
          <p:nvPr/>
        </p:nvSpPr>
        <p:spPr>
          <a:xfrm>
            <a:off x="5448300" y="3467100"/>
            <a:ext cx="2000250" cy="1123950"/>
          </a:xfrm>
          <a:prstGeom prst="rect">
            <a:avLst/>
          </a:prstGeom>
          <a:noFill/>
          <a:ln w="0">
            <a:noFill/>
            <a:prstDash val="solid"/>
          </a:ln>
        </p:spPr>
        <p:txBody>
          <a:bodyPr wrap="square" lIns="0" tIns="0" rIns="0" bIns="0" anchor="t">
            <a:normAutofit/>
          </a:bodyPr>
          <a:lstStyle/>
          <a:p>
            <a:pPr algn="l">
              <a:lnSpc>
                <a:spcPct val="114000"/>
              </a:lnSpc>
              <a:buNone/>
              <a:defRPr sz="1500" b="0" i="0">
                <a:solidFill>
                  <a:srgbClr val="667085"/>
                </a:solidFill>
                <a:latin typeface="Arial"/>
                <a:ea typeface="Arial"/>
                <a:cs typeface="Arial"/>
              </a:defRPr>
            </a:pPr>
            <a:r>
              <a:rPr sz="1500" b="0" i="0">
                <a:solidFill>
                  <a:srgbClr val="667085"/>
                </a:solidFill>
                <a:latin typeface="Arial"/>
                <a:ea typeface="Arial"/>
                <a:cs typeface="Arial"/>
              </a:rPr>
              <a:t>Compare live evidence with the held-out results before scaling.</a:t>
            </a:r>
          </a:p>
        </p:txBody>
      </p:sp>
      <p:sp>
        <p:nvSpPr>
          <p:cNvPr id="19" name="矩形: 圆角 18">
            <a:extLst>
              <a:ext uri="{FF2B5EF4-FFF2-40B4-BE49-F238E27FC236}">
                <a16:creationId xmlns:a16="http://schemas.microsoft.com/office/drawing/2014/main" id="{2D2138CB-F53F-40ED-9556-DEDC78DF6B1B}"/>
              </a:ext>
            </a:extLst>
          </p:cNvPr>
          <p:cNvSpPr>
            <a:spLocks noGrp="1"/>
          </p:cNvSpPr>
          <p:nvPr/>
        </p:nvSpPr>
        <p:spPr>
          <a:xfrm>
            <a:off x="8020050" y="1562100"/>
            <a:ext cx="3390900" cy="3790950"/>
          </a:xfrm>
          <a:prstGeom prst="roundRect">
            <a:avLst>
              <a:gd name="adj" fmla="val 3371"/>
            </a:avLst>
          </a:prstGeom>
          <a:solidFill>
            <a:srgbClr val="F2F4F7"/>
          </a:solidFill>
          <a:ln w="0">
            <a:solidFill>
              <a:srgbClr val="F2F4F7"/>
            </a:solidFill>
            <a:prstDash val="solid"/>
          </a:ln>
        </p:spPr>
        <p:txBody>
          <a:bodyPr/>
          <a:lstStyle/>
          <a:p>
            <a:endParaRPr lang="zh-CN" altLang="en-US"/>
          </a:p>
        </p:txBody>
      </p:sp>
      <p:sp>
        <p:nvSpPr>
          <p:cNvPr id="20" name="矩形 19">
            <a:extLst>
              <a:ext uri="{FF2B5EF4-FFF2-40B4-BE49-F238E27FC236}">
                <a16:creationId xmlns:a16="http://schemas.microsoft.com/office/drawing/2014/main" id="{FAFE1D91-DB77-4164-96AE-A8B575AE52EE}"/>
              </a:ext>
            </a:extLst>
          </p:cNvPr>
          <p:cNvSpPr>
            <a:spLocks noGrp="1"/>
          </p:cNvSpPr>
          <p:nvPr/>
        </p:nvSpPr>
        <p:spPr>
          <a:xfrm>
            <a:off x="8305800" y="1847850"/>
            <a:ext cx="2819400" cy="36195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111827"/>
                </a:solidFill>
                <a:latin typeface="Arial"/>
                <a:ea typeface="Arial"/>
                <a:cs typeface="Arial"/>
              </a:defRPr>
            </a:pPr>
            <a:r>
              <a:rPr sz="1875" b="1" i="0">
                <a:solidFill>
                  <a:srgbClr val="111827"/>
                </a:solidFill>
                <a:latin typeface="Arial"/>
                <a:ea typeface="Arial"/>
                <a:cs typeface="Arial"/>
              </a:rPr>
              <a:t>Limits to carry forward</a:t>
            </a:r>
          </a:p>
        </p:txBody>
      </p:sp>
      <p:sp>
        <p:nvSpPr>
          <p:cNvPr id="21" name="矩形 20">
            <a:extLst>
              <a:ext uri="{FF2B5EF4-FFF2-40B4-BE49-F238E27FC236}">
                <a16:creationId xmlns:a16="http://schemas.microsoft.com/office/drawing/2014/main" id="{5194CE50-BDF1-4CD6-8D51-A319C1512DE1}"/>
              </a:ext>
            </a:extLst>
          </p:cNvPr>
          <p:cNvSpPr>
            <a:spLocks noGrp="1"/>
          </p:cNvSpPr>
          <p:nvPr/>
        </p:nvSpPr>
        <p:spPr>
          <a:xfrm>
            <a:off x="8305800" y="2533650"/>
            <a:ext cx="304800" cy="266700"/>
          </a:xfrm>
          <a:prstGeom prst="rect">
            <a:avLst/>
          </a:prstGeom>
          <a:noFill/>
          <a:ln w="0">
            <a:noFill/>
            <a:prstDash val="solid"/>
          </a:ln>
        </p:spPr>
        <p:txBody>
          <a:bodyPr wrap="square" lIns="0" tIns="0" rIns="0" bIns="0" anchor="t">
            <a:normAutofit/>
          </a:bodyPr>
          <a:lstStyle/>
          <a:p>
            <a:pPr algn="ctr">
              <a:lnSpc>
                <a:spcPct val="105000"/>
              </a:lnSpc>
              <a:buNone/>
              <a:defRPr sz="1350" b="1" i="0">
                <a:solidFill>
                  <a:srgbClr val="3D8DFF"/>
                </a:solidFill>
                <a:latin typeface="Arial"/>
                <a:ea typeface="Arial"/>
                <a:cs typeface="Arial"/>
              </a:defRPr>
            </a:pPr>
            <a:r>
              <a:rPr sz="1350" b="1" i="0">
                <a:solidFill>
                  <a:srgbClr val="3D8DFF"/>
                </a:solidFill>
                <a:latin typeface="Arial"/>
                <a:ea typeface="Arial"/>
                <a:cs typeface="Arial"/>
              </a:rPr>
              <a:t>1</a:t>
            </a:r>
          </a:p>
        </p:txBody>
      </p:sp>
      <p:sp>
        <p:nvSpPr>
          <p:cNvPr id="22" name="矩形 21">
            <a:extLst>
              <a:ext uri="{FF2B5EF4-FFF2-40B4-BE49-F238E27FC236}">
                <a16:creationId xmlns:a16="http://schemas.microsoft.com/office/drawing/2014/main" id="{8B4173BE-4480-4E25-8CEF-E63AE43F9229}"/>
              </a:ext>
            </a:extLst>
          </p:cNvPr>
          <p:cNvSpPr>
            <a:spLocks noGrp="1"/>
          </p:cNvSpPr>
          <p:nvPr/>
        </p:nvSpPr>
        <p:spPr>
          <a:xfrm>
            <a:off x="8782050" y="2514600"/>
            <a:ext cx="2343150" cy="400050"/>
          </a:xfrm>
          <a:prstGeom prst="rect">
            <a:avLst/>
          </a:prstGeom>
          <a:noFill/>
          <a:ln w="0">
            <a:noFill/>
            <a:prstDash val="solid"/>
          </a:ln>
        </p:spPr>
        <p:txBody>
          <a:bodyPr wrap="square" lIns="0" tIns="0" rIns="0" bIns="0" anchor="ctr">
            <a:normAutofit/>
          </a:bodyPr>
          <a:lstStyle/>
          <a:p>
            <a:pPr algn="l">
              <a:lnSpc>
                <a:spcPct val="105000"/>
              </a:lnSpc>
              <a:buNone/>
              <a:defRPr sz="1500" b="0" i="0">
                <a:solidFill>
                  <a:srgbClr val="111827"/>
                </a:solidFill>
                <a:latin typeface="Arial"/>
                <a:ea typeface="Arial"/>
                <a:cs typeface="Arial"/>
              </a:defRPr>
            </a:pPr>
            <a:r>
              <a:rPr sz="1500" b="0" i="0">
                <a:solidFill>
                  <a:srgbClr val="111827"/>
                </a:solidFill>
                <a:latin typeface="Arial"/>
                <a:ea typeface="Arial"/>
                <a:cs typeface="Arial"/>
              </a:rPr>
              <a:t>Historical proxy data</a:t>
            </a:r>
          </a:p>
        </p:txBody>
      </p:sp>
      <p:sp>
        <p:nvSpPr>
          <p:cNvPr id="23" name="矩形 22">
            <a:extLst>
              <a:ext uri="{FF2B5EF4-FFF2-40B4-BE49-F238E27FC236}">
                <a16:creationId xmlns:a16="http://schemas.microsoft.com/office/drawing/2014/main" id="{67C37F65-00C5-4BC1-8E17-CF8ED90CB0A5}"/>
              </a:ext>
            </a:extLst>
          </p:cNvPr>
          <p:cNvSpPr>
            <a:spLocks noGrp="1"/>
          </p:cNvSpPr>
          <p:nvPr/>
        </p:nvSpPr>
        <p:spPr>
          <a:xfrm>
            <a:off x="8305800" y="3124200"/>
            <a:ext cx="304800" cy="266700"/>
          </a:xfrm>
          <a:prstGeom prst="rect">
            <a:avLst/>
          </a:prstGeom>
          <a:noFill/>
          <a:ln w="0">
            <a:noFill/>
            <a:prstDash val="solid"/>
          </a:ln>
        </p:spPr>
        <p:txBody>
          <a:bodyPr wrap="square" lIns="0" tIns="0" rIns="0" bIns="0" anchor="t">
            <a:normAutofit/>
          </a:bodyPr>
          <a:lstStyle/>
          <a:p>
            <a:pPr algn="ctr">
              <a:lnSpc>
                <a:spcPct val="105000"/>
              </a:lnSpc>
              <a:buNone/>
              <a:defRPr sz="1350" b="1" i="0">
                <a:solidFill>
                  <a:srgbClr val="3D8DFF"/>
                </a:solidFill>
                <a:latin typeface="Arial"/>
                <a:ea typeface="Arial"/>
                <a:cs typeface="Arial"/>
              </a:defRPr>
            </a:pPr>
            <a:r>
              <a:rPr sz="1350" b="1" i="0">
                <a:solidFill>
                  <a:srgbClr val="3D8DFF"/>
                </a:solidFill>
                <a:latin typeface="Arial"/>
                <a:ea typeface="Arial"/>
                <a:cs typeface="Arial"/>
              </a:rPr>
              <a:t>2</a:t>
            </a:r>
          </a:p>
        </p:txBody>
      </p:sp>
      <p:sp>
        <p:nvSpPr>
          <p:cNvPr id="24" name="矩形 23">
            <a:extLst>
              <a:ext uri="{FF2B5EF4-FFF2-40B4-BE49-F238E27FC236}">
                <a16:creationId xmlns:a16="http://schemas.microsoft.com/office/drawing/2014/main" id="{325EB252-12CF-449B-A433-ED38C7965485}"/>
              </a:ext>
            </a:extLst>
          </p:cNvPr>
          <p:cNvSpPr>
            <a:spLocks noGrp="1"/>
          </p:cNvSpPr>
          <p:nvPr/>
        </p:nvSpPr>
        <p:spPr>
          <a:xfrm>
            <a:off x="8782050" y="3105150"/>
            <a:ext cx="2343150" cy="400050"/>
          </a:xfrm>
          <a:prstGeom prst="rect">
            <a:avLst/>
          </a:prstGeom>
          <a:noFill/>
          <a:ln w="0">
            <a:noFill/>
            <a:prstDash val="solid"/>
          </a:ln>
        </p:spPr>
        <p:txBody>
          <a:bodyPr wrap="square" lIns="0" tIns="0" rIns="0" bIns="0" anchor="ctr">
            <a:normAutofit fontScale="92187"/>
          </a:bodyPr>
          <a:lstStyle/>
          <a:p>
            <a:pPr algn="l">
              <a:lnSpc>
                <a:spcPct val="105000"/>
              </a:lnSpc>
              <a:buNone/>
              <a:defRPr sz="1500" b="0" i="0">
                <a:solidFill>
                  <a:srgbClr val="111827"/>
                </a:solidFill>
                <a:latin typeface="Arial"/>
                <a:ea typeface="Arial"/>
                <a:cs typeface="Arial"/>
              </a:defRPr>
            </a:pPr>
            <a:r>
              <a:rPr sz="1500" b="0" i="0">
                <a:solidFill>
                  <a:srgbClr val="111827"/>
                </a:solidFill>
                <a:latin typeface="Arial"/>
                <a:ea typeface="Arial"/>
                <a:cs typeface="Arial"/>
              </a:rPr>
              <a:t>Association is not causation</a:t>
            </a:r>
          </a:p>
        </p:txBody>
      </p:sp>
      <p:sp>
        <p:nvSpPr>
          <p:cNvPr id="25" name="矩形 24">
            <a:extLst>
              <a:ext uri="{FF2B5EF4-FFF2-40B4-BE49-F238E27FC236}">
                <a16:creationId xmlns:a16="http://schemas.microsoft.com/office/drawing/2014/main" id="{B622DA75-A77B-4CFB-963F-D74E34209C6E}"/>
              </a:ext>
            </a:extLst>
          </p:cNvPr>
          <p:cNvSpPr>
            <a:spLocks noGrp="1"/>
          </p:cNvSpPr>
          <p:nvPr/>
        </p:nvSpPr>
        <p:spPr>
          <a:xfrm>
            <a:off x="8305800" y="3714750"/>
            <a:ext cx="304800" cy="266700"/>
          </a:xfrm>
          <a:prstGeom prst="rect">
            <a:avLst/>
          </a:prstGeom>
          <a:noFill/>
          <a:ln w="0">
            <a:noFill/>
            <a:prstDash val="solid"/>
          </a:ln>
        </p:spPr>
        <p:txBody>
          <a:bodyPr wrap="square" lIns="0" tIns="0" rIns="0" bIns="0" anchor="t">
            <a:normAutofit/>
          </a:bodyPr>
          <a:lstStyle/>
          <a:p>
            <a:pPr algn="ctr">
              <a:lnSpc>
                <a:spcPct val="105000"/>
              </a:lnSpc>
              <a:buNone/>
              <a:defRPr sz="1350" b="1" i="0">
                <a:solidFill>
                  <a:srgbClr val="3D8DFF"/>
                </a:solidFill>
                <a:latin typeface="Arial"/>
                <a:ea typeface="Arial"/>
                <a:cs typeface="Arial"/>
              </a:defRPr>
            </a:pPr>
            <a:r>
              <a:rPr sz="1350" b="1" i="0">
                <a:solidFill>
                  <a:srgbClr val="3D8DFF"/>
                </a:solidFill>
                <a:latin typeface="Arial"/>
                <a:ea typeface="Arial"/>
                <a:cs typeface="Arial"/>
              </a:rPr>
              <a:t>3</a:t>
            </a:r>
          </a:p>
        </p:txBody>
      </p:sp>
      <p:sp>
        <p:nvSpPr>
          <p:cNvPr id="26" name="矩形 25">
            <a:extLst>
              <a:ext uri="{FF2B5EF4-FFF2-40B4-BE49-F238E27FC236}">
                <a16:creationId xmlns:a16="http://schemas.microsoft.com/office/drawing/2014/main" id="{52398007-BAEE-44C2-AE59-F61BE50DB617}"/>
              </a:ext>
            </a:extLst>
          </p:cNvPr>
          <p:cNvSpPr>
            <a:spLocks noGrp="1"/>
          </p:cNvSpPr>
          <p:nvPr/>
        </p:nvSpPr>
        <p:spPr>
          <a:xfrm>
            <a:off x="8782050" y="3695700"/>
            <a:ext cx="2343150" cy="400050"/>
          </a:xfrm>
          <a:prstGeom prst="rect">
            <a:avLst/>
          </a:prstGeom>
          <a:noFill/>
          <a:ln w="0">
            <a:noFill/>
            <a:prstDash val="solid"/>
          </a:ln>
        </p:spPr>
        <p:txBody>
          <a:bodyPr wrap="square" lIns="0" tIns="0" rIns="0" bIns="0" anchor="ctr">
            <a:normAutofit/>
          </a:bodyPr>
          <a:lstStyle/>
          <a:p>
            <a:pPr algn="l">
              <a:lnSpc>
                <a:spcPct val="105000"/>
              </a:lnSpc>
              <a:buNone/>
              <a:defRPr sz="1500" b="0" i="0">
                <a:solidFill>
                  <a:srgbClr val="111827"/>
                </a:solidFill>
                <a:latin typeface="Arial"/>
                <a:ea typeface="Arial"/>
                <a:cs typeface="Arial"/>
              </a:defRPr>
            </a:pPr>
            <a:r>
              <a:rPr sz="1500" b="0" i="0">
                <a:solidFill>
                  <a:srgbClr val="111827"/>
                </a:solidFill>
                <a:latin typeface="Arial"/>
                <a:ea typeface="Arial"/>
                <a:cs typeface="Arial"/>
              </a:rPr>
              <a:t>One held-out test period</a:t>
            </a:r>
          </a:p>
        </p:txBody>
      </p:sp>
      <p:sp>
        <p:nvSpPr>
          <p:cNvPr id="27" name="矩形 26">
            <a:extLst>
              <a:ext uri="{FF2B5EF4-FFF2-40B4-BE49-F238E27FC236}">
                <a16:creationId xmlns:a16="http://schemas.microsoft.com/office/drawing/2014/main" id="{92AF9CD7-18F8-4602-8383-794D995769CB}"/>
              </a:ext>
            </a:extLst>
          </p:cNvPr>
          <p:cNvSpPr>
            <a:spLocks noGrp="1"/>
          </p:cNvSpPr>
          <p:nvPr/>
        </p:nvSpPr>
        <p:spPr>
          <a:xfrm>
            <a:off x="8305800" y="4305300"/>
            <a:ext cx="304800" cy="266700"/>
          </a:xfrm>
          <a:prstGeom prst="rect">
            <a:avLst/>
          </a:prstGeom>
          <a:noFill/>
          <a:ln w="0">
            <a:noFill/>
            <a:prstDash val="solid"/>
          </a:ln>
        </p:spPr>
        <p:txBody>
          <a:bodyPr wrap="square" lIns="0" tIns="0" rIns="0" bIns="0" anchor="t">
            <a:normAutofit/>
          </a:bodyPr>
          <a:lstStyle/>
          <a:p>
            <a:pPr algn="ctr">
              <a:lnSpc>
                <a:spcPct val="105000"/>
              </a:lnSpc>
              <a:buNone/>
              <a:defRPr sz="1350" b="1" i="0">
                <a:solidFill>
                  <a:srgbClr val="3D8DFF"/>
                </a:solidFill>
                <a:latin typeface="Arial"/>
                <a:ea typeface="Arial"/>
                <a:cs typeface="Arial"/>
              </a:defRPr>
            </a:pPr>
            <a:r>
              <a:rPr sz="1350" b="1" i="0">
                <a:solidFill>
                  <a:srgbClr val="3D8DFF"/>
                </a:solidFill>
                <a:latin typeface="Arial"/>
                <a:ea typeface="Arial"/>
                <a:cs typeface="Arial"/>
              </a:rPr>
              <a:t>4</a:t>
            </a:r>
          </a:p>
        </p:txBody>
      </p:sp>
      <p:sp>
        <p:nvSpPr>
          <p:cNvPr id="28" name="矩形 27">
            <a:extLst>
              <a:ext uri="{FF2B5EF4-FFF2-40B4-BE49-F238E27FC236}">
                <a16:creationId xmlns:a16="http://schemas.microsoft.com/office/drawing/2014/main" id="{6EA011B1-E9E1-4B50-8FE2-CDC81F43E2FF}"/>
              </a:ext>
            </a:extLst>
          </p:cNvPr>
          <p:cNvSpPr>
            <a:spLocks noGrp="1"/>
          </p:cNvSpPr>
          <p:nvPr/>
        </p:nvSpPr>
        <p:spPr>
          <a:xfrm>
            <a:off x="8782050" y="4286250"/>
            <a:ext cx="2343150" cy="400050"/>
          </a:xfrm>
          <a:prstGeom prst="rect">
            <a:avLst/>
          </a:prstGeom>
          <a:noFill/>
          <a:ln w="0">
            <a:noFill/>
            <a:prstDash val="solid"/>
          </a:ln>
        </p:spPr>
        <p:txBody>
          <a:bodyPr wrap="square" lIns="0" tIns="0" rIns="0" bIns="0" anchor="ctr">
            <a:normAutofit fontScale="88282"/>
          </a:bodyPr>
          <a:lstStyle/>
          <a:p>
            <a:pPr algn="l">
              <a:lnSpc>
                <a:spcPct val="105000"/>
              </a:lnSpc>
              <a:buNone/>
              <a:defRPr sz="1500" b="0" i="0">
                <a:solidFill>
                  <a:srgbClr val="111827"/>
                </a:solidFill>
                <a:latin typeface="Arial"/>
                <a:ea typeface="Arial"/>
                <a:cs typeface="Arial"/>
              </a:defRPr>
            </a:pPr>
            <a:r>
              <a:rPr sz="1500" b="0" i="0">
                <a:solidFill>
                  <a:srgbClr val="111827"/>
                </a:solidFill>
                <a:latin typeface="Arial"/>
                <a:ea typeface="Arial"/>
                <a:cs typeface="Arial"/>
              </a:rPr>
              <a:t>Review benefit is not measured</a:t>
            </a:r>
          </a:p>
        </p:txBody>
      </p:sp>
      <p:sp>
        <p:nvSpPr>
          <p:cNvPr id="29" name="矩形: 圆角 28">
            <a:extLst>
              <a:ext uri="{FF2B5EF4-FFF2-40B4-BE49-F238E27FC236}">
                <a16:creationId xmlns:a16="http://schemas.microsoft.com/office/drawing/2014/main" id="{A02F073C-039A-4437-A0E6-9C9D3D4BAAB2}"/>
              </a:ext>
            </a:extLst>
          </p:cNvPr>
          <p:cNvSpPr>
            <a:spLocks noGrp="1"/>
          </p:cNvSpPr>
          <p:nvPr/>
        </p:nvSpPr>
        <p:spPr>
          <a:xfrm>
            <a:off x="685800" y="5543550"/>
            <a:ext cx="10725150" cy="590550"/>
          </a:xfrm>
          <a:prstGeom prst="roundRect">
            <a:avLst>
              <a:gd name="adj" fmla="val 19355"/>
            </a:avLst>
          </a:prstGeom>
          <a:solidFill>
            <a:srgbClr val="EFF8FF"/>
          </a:solidFill>
          <a:ln w="0">
            <a:solidFill>
              <a:srgbClr val="F2F4F7"/>
            </a:solidFill>
            <a:prstDash val="solid"/>
          </a:ln>
        </p:spPr>
        <p:txBody>
          <a:bodyPr/>
          <a:lstStyle/>
          <a:p>
            <a:endParaRPr lang="zh-CN" altLang="en-US"/>
          </a:p>
        </p:txBody>
      </p:sp>
      <p:sp>
        <p:nvSpPr>
          <p:cNvPr id="30" name="矩形 29">
            <a:extLst>
              <a:ext uri="{FF2B5EF4-FFF2-40B4-BE49-F238E27FC236}">
                <a16:creationId xmlns:a16="http://schemas.microsoft.com/office/drawing/2014/main" id="{18B1F8AA-6C60-44E5-9833-7D6AF7724D5F}"/>
              </a:ext>
            </a:extLst>
          </p:cNvPr>
          <p:cNvSpPr>
            <a:spLocks noGrp="1"/>
          </p:cNvSpPr>
          <p:nvPr/>
        </p:nvSpPr>
        <p:spPr>
          <a:xfrm>
            <a:off x="971550" y="5705475"/>
            <a:ext cx="10153650" cy="285750"/>
          </a:xfrm>
          <a:prstGeom prst="rect">
            <a:avLst/>
          </a:prstGeom>
          <a:noFill/>
          <a:ln w="0">
            <a:noFill/>
            <a:prstDash val="solid"/>
          </a:ln>
        </p:spPr>
        <p:txBody>
          <a:bodyPr wrap="square" lIns="0" tIns="0" rIns="0" bIns="0" anchor="t">
            <a:noAutofit/>
          </a:bodyPr>
          <a:lstStyle/>
          <a:p>
            <a:pPr algn="ctr">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Use the model to focus human attention - not to replace operational judgment.</a:t>
            </a:r>
          </a:p>
        </p:txBody>
      </p:sp>
    </p:spTree>
    <p:extLst>
      <p:ext uri="{BB962C8B-B14F-4D97-AF65-F5344CB8AC3E}">
        <p14:creationId xmlns:p14="http://schemas.microsoft.com/office/powerpoint/2010/main" val="104627752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2724</Words>
  <Application>Microsoft Office PowerPoint</Application>
  <DocSecurity>0</DocSecurity>
  <PresentationFormat>宽屏</PresentationFormat>
  <Paragraphs>256</Paragraphs>
  <Slides>13</Slides>
  <Notes>13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13</vt:i4>
      </vt:variant>
    </vt:vector>
  </HeadingPairs>
  <TitlesOfParts>
    <vt:vector size="16" baseType="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Dajun Feng</cp:lastModifiedBy>
  <cp:revision>5</cp:revision>
  <dcterms:created xsi:type="dcterms:W3CDTF">2026-08-09T22:55:31Z</dcterms:created>
  <dcterms:modified xsi:type="dcterms:W3CDTF">2026-08-12T06:52:27Z</dcterms:modified>
</cp:coreProperties>
</file>